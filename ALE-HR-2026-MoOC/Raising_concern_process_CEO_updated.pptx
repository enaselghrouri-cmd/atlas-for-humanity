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0104100" cy="7283450"/>
  <p:notesSz cx="20104100" cy="7283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70" d="100"/>
          <a:sy n="170" d="100"/>
        </p:scale>
        <p:origin x="120" y="-30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2257869"/>
            <a:ext cx="17088486" cy="15295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4078732"/>
            <a:ext cx="14072870" cy="18208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1675193"/>
            <a:ext cx="8745284" cy="48070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1675193"/>
            <a:ext cx="8745284" cy="48070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2721" y="2388371"/>
            <a:ext cx="5715" cy="54610"/>
          </a:xfrm>
          <a:custGeom>
            <a:avLst/>
            <a:gdLst/>
            <a:ahLst/>
            <a:cxnLst/>
            <a:rect l="l" t="t" r="r" b="b"/>
            <a:pathLst>
              <a:path w="5715" h="54610">
                <a:moveTo>
                  <a:pt x="0" y="0"/>
                </a:moveTo>
                <a:lnTo>
                  <a:pt x="0" y="54257"/>
                </a:lnTo>
                <a:lnTo>
                  <a:pt x="5443" y="54257"/>
                </a:lnTo>
                <a:lnTo>
                  <a:pt x="544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2721" y="0"/>
            <a:ext cx="5715" cy="54610"/>
          </a:xfrm>
          <a:custGeom>
            <a:avLst/>
            <a:gdLst/>
            <a:ahLst/>
            <a:cxnLst/>
            <a:rect l="l" t="t" r="r" b="b"/>
            <a:pathLst>
              <a:path w="5715" h="54610">
                <a:moveTo>
                  <a:pt x="0" y="0"/>
                </a:moveTo>
                <a:lnTo>
                  <a:pt x="0" y="54257"/>
                </a:lnTo>
                <a:lnTo>
                  <a:pt x="5443" y="54257"/>
                </a:lnTo>
                <a:lnTo>
                  <a:pt x="544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2721" y="2388371"/>
            <a:ext cx="5715" cy="54610"/>
          </a:xfrm>
          <a:custGeom>
            <a:avLst/>
            <a:gdLst/>
            <a:ahLst/>
            <a:cxnLst/>
            <a:rect l="l" t="t" r="r" b="b"/>
            <a:pathLst>
              <a:path w="5715" h="54610">
                <a:moveTo>
                  <a:pt x="0" y="0"/>
                </a:moveTo>
                <a:lnTo>
                  <a:pt x="0" y="54257"/>
                </a:lnTo>
                <a:lnTo>
                  <a:pt x="5443" y="54257"/>
                </a:lnTo>
                <a:lnTo>
                  <a:pt x="544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4425" y="1270876"/>
            <a:ext cx="17254220" cy="153670"/>
          </a:xfrm>
          <a:custGeom>
            <a:avLst/>
            <a:gdLst/>
            <a:ahLst/>
            <a:cxnLst/>
            <a:rect l="l" t="t" r="r" b="b"/>
            <a:pathLst>
              <a:path w="17254220" h="153669">
                <a:moveTo>
                  <a:pt x="17253872" y="153381"/>
                </a:moveTo>
                <a:lnTo>
                  <a:pt x="17253872" y="0"/>
                </a:lnTo>
                <a:lnTo>
                  <a:pt x="0" y="0"/>
                </a:lnTo>
                <a:lnTo>
                  <a:pt x="0" y="153381"/>
                </a:lnTo>
                <a:lnTo>
                  <a:pt x="17253872" y="153381"/>
                </a:lnTo>
                <a:close/>
              </a:path>
            </a:pathLst>
          </a:custGeom>
          <a:solidFill>
            <a:srgbClr val="3C63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4425" y="1270876"/>
            <a:ext cx="17254220" cy="153670"/>
          </a:xfrm>
          <a:custGeom>
            <a:avLst/>
            <a:gdLst/>
            <a:ahLst/>
            <a:cxnLst/>
            <a:rect l="l" t="t" r="r" b="b"/>
            <a:pathLst>
              <a:path w="17254220" h="153669">
                <a:moveTo>
                  <a:pt x="0" y="0"/>
                </a:moveTo>
                <a:lnTo>
                  <a:pt x="0" y="153381"/>
                </a:lnTo>
                <a:lnTo>
                  <a:pt x="17253872" y="153381"/>
                </a:lnTo>
                <a:lnTo>
                  <a:pt x="17253872" y="0"/>
                </a:lnTo>
                <a:lnTo>
                  <a:pt x="0" y="0"/>
                </a:lnTo>
                <a:close/>
              </a:path>
            </a:pathLst>
          </a:custGeom>
          <a:ln w="4069">
            <a:solidFill>
              <a:srgbClr val="30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4425" y="1270876"/>
            <a:ext cx="17254220" cy="3836670"/>
          </a:xfrm>
          <a:custGeom>
            <a:avLst/>
            <a:gdLst/>
            <a:ahLst/>
            <a:cxnLst/>
            <a:rect l="l" t="t" r="r" b="b"/>
            <a:pathLst>
              <a:path w="17254220" h="3836670">
                <a:moveTo>
                  <a:pt x="0" y="0"/>
                </a:moveTo>
                <a:lnTo>
                  <a:pt x="0" y="3836628"/>
                </a:lnTo>
                <a:lnTo>
                  <a:pt x="17253872" y="3836628"/>
                </a:lnTo>
                <a:lnTo>
                  <a:pt x="17253872" y="0"/>
                </a:lnTo>
                <a:lnTo>
                  <a:pt x="0" y="0"/>
                </a:lnTo>
                <a:close/>
              </a:path>
            </a:pathLst>
          </a:custGeom>
          <a:ln w="4069">
            <a:solidFill>
              <a:srgbClr val="30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54425" y="1501471"/>
            <a:ext cx="17254220" cy="485775"/>
          </a:xfrm>
          <a:custGeom>
            <a:avLst/>
            <a:gdLst/>
            <a:ahLst/>
            <a:cxnLst/>
            <a:rect l="l" t="t" r="r" b="b"/>
            <a:pathLst>
              <a:path w="17254220" h="485775">
                <a:moveTo>
                  <a:pt x="0" y="0"/>
                </a:moveTo>
                <a:lnTo>
                  <a:pt x="0" y="485186"/>
                </a:lnTo>
                <a:lnTo>
                  <a:pt x="17253872" y="485186"/>
                </a:lnTo>
                <a:lnTo>
                  <a:pt x="17253872" y="0"/>
                </a:lnTo>
                <a:lnTo>
                  <a:pt x="0" y="0"/>
                </a:lnTo>
                <a:close/>
              </a:path>
            </a:pathLst>
          </a:custGeom>
          <a:ln w="4069">
            <a:solidFill>
              <a:srgbClr val="30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54425" y="1501470"/>
            <a:ext cx="200660" cy="485775"/>
          </a:xfrm>
          <a:custGeom>
            <a:avLst/>
            <a:gdLst/>
            <a:ahLst/>
            <a:cxnLst/>
            <a:rect l="l" t="t" r="r" b="b"/>
            <a:pathLst>
              <a:path w="200660" h="485775">
                <a:moveTo>
                  <a:pt x="200335" y="485186"/>
                </a:moveTo>
                <a:lnTo>
                  <a:pt x="200335" y="0"/>
                </a:lnTo>
                <a:lnTo>
                  <a:pt x="0" y="0"/>
                </a:lnTo>
                <a:lnTo>
                  <a:pt x="0" y="485186"/>
                </a:lnTo>
                <a:lnTo>
                  <a:pt x="200335" y="485186"/>
                </a:lnTo>
                <a:close/>
              </a:path>
            </a:pathLst>
          </a:custGeom>
          <a:solidFill>
            <a:srgbClr val="3C63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54425" y="1501470"/>
            <a:ext cx="200660" cy="485775"/>
          </a:xfrm>
          <a:custGeom>
            <a:avLst/>
            <a:gdLst/>
            <a:ahLst/>
            <a:cxnLst/>
            <a:rect l="l" t="t" r="r" b="b"/>
            <a:pathLst>
              <a:path w="200660" h="485775">
                <a:moveTo>
                  <a:pt x="200335" y="485186"/>
                </a:moveTo>
                <a:lnTo>
                  <a:pt x="200335" y="0"/>
                </a:lnTo>
                <a:lnTo>
                  <a:pt x="0" y="0"/>
                </a:lnTo>
                <a:lnTo>
                  <a:pt x="0" y="485186"/>
                </a:lnTo>
                <a:lnTo>
                  <a:pt x="200335" y="485186"/>
                </a:lnTo>
                <a:close/>
              </a:path>
            </a:pathLst>
          </a:custGeom>
          <a:ln w="4069">
            <a:solidFill>
              <a:srgbClr val="30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-2717" y="3120852"/>
            <a:ext cx="5715" cy="54610"/>
          </a:xfrm>
          <a:custGeom>
            <a:avLst/>
            <a:gdLst/>
            <a:ahLst/>
            <a:cxnLst/>
            <a:rect l="l" t="t" r="r" b="b"/>
            <a:pathLst>
              <a:path w="5715" h="54610">
                <a:moveTo>
                  <a:pt x="5435" y="0"/>
                </a:moveTo>
                <a:lnTo>
                  <a:pt x="0" y="0"/>
                </a:lnTo>
                <a:lnTo>
                  <a:pt x="0" y="54254"/>
                </a:lnTo>
                <a:lnTo>
                  <a:pt x="5435" y="54254"/>
                </a:lnTo>
                <a:lnTo>
                  <a:pt x="5435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-2721" y="0"/>
            <a:ext cx="5715" cy="54610"/>
          </a:xfrm>
          <a:custGeom>
            <a:avLst/>
            <a:gdLst/>
            <a:ahLst/>
            <a:cxnLst/>
            <a:rect l="l" t="t" r="r" b="b"/>
            <a:pathLst>
              <a:path w="5715" h="54610">
                <a:moveTo>
                  <a:pt x="0" y="0"/>
                </a:moveTo>
                <a:lnTo>
                  <a:pt x="0" y="54257"/>
                </a:lnTo>
                <a:lnTo>
                  <a:pt x="5443" y="54257"/>
                </a:lnTo>
                <a:lnTo>
                  <a:pt x="544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291338"/>
            <a:ext cx="18093690" cy="11653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1675193"/>
            <a:ext cx="18093690" cy="48070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6773608"/>
            <a:ext cx="6433312" cy="364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6773608"/>
            <a:ext cx="4623943" cy="364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6773608"/>
            <a:ext cx="4623943" cy="364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414" y="1671506"/>
            <a:ext cx="91440" cy="1466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20" dirty="0">
                <a:solidFill>
                  <a:srgbClr val="FDFFFF"/>
                </a:solidFill>
                <a:latin typeface="Calibri"/>
                <a:cs typeface="Calibri"/>
              </a:rPr>
              <a:t>Baar</a:t>
            </a:r>
            <a:endParaRPr sz="5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202" y="3780148"/>
            <a:ext cx="17258665" cy="1329690"/>
            <a:chOff x="152202" y="3780148"/>
            <a:chExt cx="17258665" cy="1329690"/>
          </a:xfrm>
        </p:grpSpPr>
        <p:sp>
          <p:nvSpPr>
            <p:cNvPr id="4" name="object 4"/>
            <p:cNvSpPr/>
            <p:nvPr/>
          </p:nvSpPr>
          <p:spPr>
            <a:xfrm>
              <a:off x="154425" y="3782371"/>
              <a:ext cx="17254220" cy="1325245"/>
            </a:xfrm>
            <a:custGeom>
              <a:avLst/>
              <a:gdLst/>
              <a:ahLst/>
              <a:cxnLst/>
              <a:rect l="l" t="t" r="r" b="b"/>
              <a:pathLst>
                <a:path w="17254220" h="1325245">
                  <a:moveTo>
                    <a:pt x="0" y="0"/>
                  </a:moveTo>
                  <a:lnTo>
                    <a:pt x="0" y="1325134"/>
                  </a:lnTo>
                  <a:lnTo>
                    <a:pt x="17253872" y="1325134"/>
                  </a:lnTo>
                  <a:lnTo>
                    <a:pt x="17253872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4425" y="3782370"/>
              <a:ext cx="200660" cy="1325245"/>
            </a:xfrm>
            <a:custGeom>
              <a:avLst/>
              <a:gdLst/>
              <a:ahLst/>
              <a:cxnLst/>
              <a:rect l="l" t="t" r="r" b="b"/>
              <a:pathLst>
                <a:path w="200660" h="1325245">
                  <a:moveTo>
                    <a:pt x="200335" y="1325134"/>
                  </a:moveTo>
                  <a:lnTo>
                    <a:pt x="200335" y="0"/>
                  </a:lnTo>
                  <a:lnTo>
                    <a:pt x="0" y="0"/>
                  </a:lnTo>
                  <a:lnTo>
                    <a:pt x="0" y="1325134"/>
                  </a:lnTo>
                  <a:lnTo>
                    <a:pt x="200335" y="1325134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4425" y="3782370"/>
              <a:ext cx="200660" cy="1325245"/>
            </a:xfrm>
            <a:custGeom>
              <a:avLst/>
              <a:gdLst/>
              <a:ahLst/>
              <a:cxnLst/>
              <a:rect l="l" t="t" r="r" b="b"/>
              <a:pathLst>
                <a:path w="200660" h="1325245">
                  <a:moveTo>
                    <a:pt x="200335" y="1325134"/>
                  </a:moveTo>
                  <a:lnTo>
                    <a:pt x="200335" y="0"/>
                  </a:lnTo>
                  <a:lnTo>
                    <a:pt x="0" y="0"/>
                  </a:lnTo>
                  <a:lnTo>
                    <a:pt x="0" y="1325134"/>
                  </a:lnTo>
                  <a:lnTo>
                    <a:pt x="200335" y="1325134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2414" y="4288802"/>
            <a:ext cx="91440" cy="3130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Comments</a:t>
            </a:r>
            <a:endParaRPr sz="5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2202" y="1984435"/>
            <a:ext cx="17258665" cy="737235"/>
            <a:chOff x="152202" y="1984435"/>
            <a:chExt cx="17258665" cy="737235"/>
          </a:xfrm>
        </p:grpSpPr>
        <p:sp>
          <p:nvSpPr>
            <p:cNvPr id="9" name="object 9"/>
            <p:cNvSpPr/>
            <p:nvPr/>
          </p:nvSpPr>
          <p:spPr>
            <a:xfrm>
              <a:off x="154425" y="1986657"/>
              <a:ext cx="17254220" cy="732790"/>
            </a:xfrm>
            <a:custGeom>
              <a:avLst/>
              <a:gdLst/>
              <a:ahLst/>
              <a:cxnLst/>
              <a:rect l="l" t="t" r="r" b="b"/>
              <a:pathLst>
                <a:path w="17254220" h="732789">
                  <a:moveTo>
                    <a:pt x="0" y="0"/>
                  </a:moveTo>
                  <a:lnTo>
                    <a:pt x="0" y="732475"/>
                  </a:lnTo>
                  <a:lnTo>
                    <a:pt x="17253872" y="732475"/>
                  </a:lnTo>
                  <a:lnTo>
                    <a:pt x="17253872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4425" y="1986657"/>
              <a:ext cx="200660" cy="732790"/>
            </a:xfrm>
            <a:custGeom>
              <a:avLst/>
              <a:gdLst/>
              <a:ahLst/>
              <a:cxnLst/>
              <a:rect l="l" t="t" r="r" b="b"/>
              <a:pathLst>
                <a:path w="200660" h="732789">
                  <a:moveTo>
                    <a:pt x="200335" y="732475"/>
                  </a:moveTo>
                  <a:lnTo>
                    <a:pt x="200335" y="0"/>
                  </a:lnTo>
                  <a:lnTo>
                    <a:pt x="0" y="0"/>
                  </a:lnTo>
                  <a:lnTo>
                    <a:pt x="0" y="732475"/>
                  </a:lnTo>
                  <a:lnTo>
                    <a:pt x="200335" y="73247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4425" y="1986657"/>
              <a:ext cx="200660" cy="732790"/>
            </a:xfrm>
            <a:custGeom>
              <a:avLst/>
              <a:gdLst/>
              <a:ahLst/>
              <a:cxnLst/>
              <a:rect l="l" t="t" r="r" b="b"/>
              <a:pathLst>
                <a:path w="200660" h="732789">
                  <a:moveTo>
                    <a:pt x="200335" y="732475"/>
                  </a:moveTo>
                  <a:lnTo>
                    <a:pt x="200335" y="0"/>
                  </a:lnTo>
                  <a:lnTo>
                    <a:pt x="0" y="0"/>
                  </a:lnTo>
                  <a:lnTo>
                    <a:pt x="0" y="732475"/>
                  </a:lnTo>
                  <a:lnTo>
                    <a:pt x="200335" y="732475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2414" y="2178279"/>
            <a:ext cx="91440" cy="3492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Department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2202" y="2716910"/>
            <a:ext cx="17258665" cy="1068070"/>
            <a:chOff x="152202" y="2716910"/>
            <a:chExt cx="17258665" cy="1068070"/>
          </a:xfrm>
        </p:grpSpPr>
        <p:sp>
          <p:nvSpPr>
            <p:cNvPr id="14" name="object 14"/>
            <p:cNvSpPr/>
            <p:nvPr/>
          </p:nvSpPr>
          <p:spPr>
            <a:xfrm>
              <a:off x="154425" y="2719133"/>
              <a:ext cx="17254220" cy="1063625"/>
            </a:xfrm>
            <a:custGeom>
              <a:avLst/>
              <a:gdLst/>
              <a:ahLst/>
              <a:cxnLst/>
              <a:rect l="l" t="t" r="r" b="b"/>
              <a:pathLst>
                <a:path w="17254220" h="1063625">
                  <a:moveTo>
                    <a:pt x="0" y="0"/>
                  </a:moveTo>
                  <a:lnTo>
                    <a:pt x="0" y="1063237"/>
                  </a:lnTo>
                  <a:lnTo>
                    <a:pt x="17253872" y="1063237"/>
                  </a:lnTo>
                  <a:lnTo>
                    <a:pt x="17253872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4425" y="2719133"/>
              <a:ext cx="200660" cy="1063625"/>
            </a:xfrm>
            <a:custGeom>
              <a:avLst/>
              <a:gdLst/>
              <a:ahLst/>
              <a:cxnLst/>
              <a:rect l="l" t="t" r="r" b="b"/>
              <a:pathLst>
                <a:path w="200660" h="1063625">
                  <a:moveTo>
                    <a:pt x="200335" y="1063237"/>
                  </a:moveTo>
                  <a:lnTo>
                    <a:pt x="200335" y="0"/>
                  </a:lnTo>
                  <a:lnTo>
                    <a:pt x="0" y="0"/>
                  </a:lnTo>
                  <a:lnTo>
                    <a:pt x="0" y="1063237"/>
                  </a:lnTo>
                  <a:lnTo>
                    <a:pt x="200335" y="106323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4425" y="2719133"/>
              <a:ext cx="200660" cy="1063625"/>
            </a:xfrm>
            <a:custGeom>
              <a:avLst/>
              <a:gdLst/>
              <a:ahLst/>
              <a:cxnLst/>
              <a:rect l="l" t="t" r="r" b="b"/>
              <a:pathLst>
                <a:path w="200660" h="1063625">
                  <a:moveTo>
                    <a:pt x="200335" y="1063237"/>
                  </a:moveTo>
                  <a:lnTo>
                    <a:pt x="200335" y="0"/>
                  </a:lnTo>
                  <a:lnTo>
                    <a:pt x="0" y="0"/>
                  </a:lnTo>
                  <a:lnTo>
                    <a:pt x="0" y="1063237"/>
                  </a:lnTo>
                  <a:lnTo>
                    <a:pt x="200335" y="1063237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2414" y="3166955"/>
            <a:ext cx="91440" cy="1682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590"/>
              </a:lnSpc>
            </a:pP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Asset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92652" y="1422035"/>
            <a:ext cx="4351655" cy="3688079"/>
            <a:chOff x="1292652" y="1422035"/>
            <a:chExt cx="4351655" cy="3688079"/>
          </a:xfrm>
        </p:grpSpPr>
        <p:sp>
          <p:nvSpPr>
            <p:cNvPr id="19" name="object 19"/>
            <p:cNvSpPr/>
            <p:nvPr/>
          </p:nvSpPr>
          <p:spPr>
            <a:xfrm>
              <a:off x="2388371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3683246"/>
                  </a:moveTo>
                  <a:lnTo>
                    <a:pt x="0" y="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94875" y="1424258"/>
              <a:ext cx="1094105" cy="77470"/>
            </a:xfrm>
            <a:custGeom>
              <a:avLst/>
              <a:gdLst/>
              <a:ahLst/>
              <a:cxnLst/>
              <a:rect l="l" t="t" r="r" b="b"/>
              <a:pathLst>
                <a:path w="1094105" h="77469">
                  <a:moveTo>
                    <a:pt x="1093496" y="77212"/>
                  </a:moveTo>
                  <a:lnTo>
                    <a:pt x="1093496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093496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94875" y="1424258"/>
              <a:ext cx="1094105" cy="77470"/>
            </a:xfrm>
            <a:custGeom>
              <a:avLst/>
              <a:gdLst/>
              <a:ahLst/>
              <a:cxnLst/>
              <a:rect l="l" t="t" r="r" b="b"/>
              <a:pathLst>
                <a:path w="1094105" h="77469">
                  <a:moveTo>
                    <a:pt x="0" y="0"/>
                  </a:moveTo>
                  <a:lnTo>
                    <a:pt x="0" y="77212"/>
                  </a:lnTo>
                  <a:lnTo>
                    <a:pt x="1093496" y="77212"/>
                  </a:lnTo>
                  <a:lnTo>
                    <a:pt x="1093496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1732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1359566"/>
                  </a:moveTo>
                  <a:lnTo>
                    <a:pt x="0" y="3683246"/>
                  </a:lnTo>
                </a:path>
                <a:path h="3683635">
                  <a:moveTo>
                    <a:pt x="0" y="0"/>
                  </a:moveTo>
                  <a:lnTo>
                    <a:pt x="0" y="1307395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52615" y="1424258"/>
              <a:ext cx="1589405" cy="77470"/>
            </a:xfrm>
            <a:custGeom>
              <a:avLst/>
              <a:gdLst/>
              <a:ahLst/>
              <a:cxnLst/>
              <a:rect l="l" t="t" r="r" b="b"/>
              <a:pathLst>
                <a:path w="1589404" h="77469">
                  <a:moveTo>
                    <a:pt x="1589117" y="77212"/>
                  </a:moveTo>
                  <a:lnTo>
                    <a:pt x="1589117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589117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52615" y="1424258"/>
              <a:ext cx="1589405" cy="77470"/>
            </a:xfrm>
            <a:custGeom>
              <a:avLst/>
              <a:gdLst/>
              <a:ahLst/>
              <a:cxnLst/>
              <a:rect l="l" t="t" r="r" b="b"/>
              <a:pathLst>
                <a:path w="1589404" h="77469">
                  <a:moveTo>
                    <a:pt x="0" y="0"/>
                  </a:moveTo>
                  <a:lnTo>
                    <a:pt x="0" y="77212"/>
                  </a:lnTo>
                  <a:lnTo>
                    <a:pt x="1589117" y="77212"/>
                  </a:lnTo>
                  <a:lnTo>
                    <a:pt x="1589117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778649" y="1404257"/>
            <a:ext cx="14033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0" dirty="0">
                <a:solidFill>
                  <a:srgbClr val="FDFFFF"/>
                </a:solidFill>
                <a:latin typeface="Calibri"/>
                <a:cs typeface="Calibri"/>
              </a:rPr>
              <a:t>Plan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39510" y="1422035"/>
            <a:ext cx="1553210" cy="3688079"/>
            <a:chOff x="5639510" y="1422035"/>
            <a:chExt cx="1553210" cy="3688079"/>
          </a:xfrm>
        </p:grpSpPr>
        <p:sp>
          <p:nvSpPr>
            <p:cNvPr id="27" name="object 27"/>
            <p:cNvSpPr/>
            <p:nvPr/>
          </p:nvSpPr>
          <p:spPr>
            <a:xfrm>
              <a:off x="7190157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3683246"/>
                  </a:moveTo>
                  <a:lnTo>
                    <a:pt x="0" y="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41732" y="1424258"/>
              <a:ext cx="1548765" cy="77470"/>
            </a:xfrm>
            <a:custGeom>
              <a:avLst/>
              <a:gdLst/>
              <a:ahLst/>
              <a:cxnLst/>
              <a:rect l="l" t="t" r="r" b="b"/>
              <a:pathLst>
                <a:path w="1548765" h="77469">
                  <a:moveTo>
                    <a:pt x="1548424" y="77212"/>
                  </a:moveTo>
                  <a:lnTo>
                    <a:pt x="1548424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548424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41732" y="1424258"/>
              <a:ext cx="1548765" cy="77470"/>
            </a:xfrm>
            <a:custGeom>
              <a:avLst/>
              <a:gdLst/>
              <a:ahLst/>
              <a:cxnLst/>
              <a:rect l="l" t="t" r="r" b="b"/>
              <a:pathLst>
                <a:path w="1548765" h="77469">
                  <a:moveTo>
                    <a:pt x="0" y="0"/>
                  </a:moveTo>
                  <a:lnTo>
                    <a:pt x="0" y="77212"/>
                  </a:lnTo>
                  <a:lnTo>
                    <a:pt x="1548424" y="77212"/>
                  </a:lnTo>
                  <a:lnTo>
                    <a:pt x="1548424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58208" y="1404257"/>
            <a:ext cx="317500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Investigate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52202" y="1422035"/>
            <a:ext cx="1144905" cy="3688079"/>
            <a:chOff x="152202" y="1422035"/>
            <a:chExt cx="1144905" cy="3688079"/>
          </a:xfrm>
        </p:grpSpPr>
        <p:sp>
          <p:nvSpPr>
            <p:cNvPr id="32" name="object 32"/>
            <p:cNvSpPr/>
            <p:nvPr/>
          </p:nvSpPr>
          <p:spPr>
            <a:xfrm>
              <a:off x="1294875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3683246"/>
                  </a:moveTo>
                  <a:lnTo>
                    <a:pt x="0" y="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4425" y="1424258"/>
              <a:ext cx="1140460" cy="77470"/>
            </a:xfrm>
            <a:custGeom>
              <a:avLst/>
              <a:gdLst/>
              <a:ahLst/>
              <a:cxnLst/>
              <a:rect l="l" t="t" r="r" b="b"/>
              <a:pathLst>
                <a:path w="1140460" h="77469">
                  <a:moveTo>
                    <a:pt x="1140450" y="77212"/>
                  </a:moveTo>
                  <a:lnTo>
                    <a:pt x="1140450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140450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4425" y="1424258"/>
              <a:ext cx="1140460" cy="77470"/>
            </a:xfrm>
            <a:custGeom>
              <a:avLst/>
              <a:gdLst/>
              <a:ahLst/>
              <a:cxnLst/>
              <a:rect l="l" t="t" r="r" b="b"/>
              <a:pathLst>
                <a:path w="1140460" h="77469">
                  <a:moveTo>
                    <a:pt x="0" y="0"/>
                  </a:moveTo>
                  <a:lnTo>
                    <a:pt x="0" y="77212"/>
                  </a:lnTo>
                  <a:lnTo>
                    <a:pt x="1140450" y="77212"/>
                  </a:lnTo>
                  <a:lnTo>
                    <a:pt x="1140450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64678" y="1241328"/>
            <a:ext cx="2098675" cy="2673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650" dirty="0">
                <a:solidFill>
                  <a:srgbClr val="FDFFFF"/>
                </a:solidFill>
                <a:latin typeface="Calibri"/>
                <a:cs typeface="Calibri"/>
              </a:rPr>
              <a:t>ALE</a:t>
            </a:r>
            <a:r>
              <a:rPr sz="650" spc="8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FDFFFF"/>
                </a:solidFill>
                <a:latin typeface="Calibri"/>
                <a:cs typeface="Calibri"/>
              </a:rPr>
              <a:t>Raising</a:t>
            </a:r>
            <a:r>
              <a:rPr sz="650" spc="7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FDFFFF"/>
                </a:solidFill>
                <a:latin typeface="Calibri"/>
                <a:cs typeface="Calibri"/>
              </a:rPr>
              <a:t>Concerns</a:t>
            </a:r>
            <a:r>
              <a:rPr sz="650" spc="7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FDFFFF"/>
                </a:solidFill>
                <a:latin typeface="Calibri"/>
                <a:cs typeface="Calibri"/>
              </a:rPr>
              <a:t>Process</a:t>
            </a:r>
            <a:r>
              <a:rPr sz="650" spc="7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FDFFFF"/>
                </a:solidFill>
                <a:latin typeface="Calibri"/>
                <a:cs typeface="Calibri"/>
              </a:rPr>
              <a:t>–</a:t>
            </a:r>
            <a:r>
              <a:rPr sz="650" spc="8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FDFFFF"/>
                </a:solidFill>
                <a:latin typeface="Calibri"/>
                <a:cs typeface="Calibri"/>
              </a:rPr>
              <a:t>Local</a:t>
            </a:r>
            <a:r>
              <a:rPr sz="650" spc="7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FDFFFF"/>
                </a:solidFill>
                <a:latin typeface="Calibri"/>
                <a:cs typeface="Calibri"/>
              </a:rPr>
              <a:t>–</a:t>
            </a:r>
            <a:r>
              <a:rPr sz="650" spc="7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FDFFFF"/>
                </a:solidFill>
                <a:latin typeface="Calibri"/>
                <a:cs typeface="Calibri"/>
              </a:rPr>
              <a:t>Investigated</a:t>
            </a:r>
            <a:r>
              <a:rPr sz="650" spc="8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FDFFFF"/>
                </a:solidFill>
                <a:latin typeface="Calibri"/>
                <a:cs typeface="Calibri"/>
              </a:rPr>
              <a:t>Locally</a:t>
            </a:r>
            <a:endParaRPr sz="650" dirty="0">
              <a:latin typeface="Calibri"/>
              <a:cs typeface="Calibri"/>
            </a:endParaRPr>
          </a:p>
          <a:p>
            <a:pPr marL="532130">
              <a:lnSpc>
                <a:spcPct val="100000"/>
              </a:lnSpc>
              <a:spcBef>
                <a:spcPts val="225"/>
              </a:spcBef>
              <a:tabLst>
                <a:tab pos="1491615" algn="l"/>
              </a:tabLst>
            </a:pP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Receive</a:t>
            </a: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	</a:t>
            </a: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Communicate</a:t>
            </a:r>
            <a:endParaRPr sz="500" dirty="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1541052" y="1422035"/>
            <a:ext cx="1661795" cy="3688079"/>
            <a:chOff x="11541052" y="1422035"/>
            <a:chExt cx="1661795" cy="3688079"/>
          </a:xfrm>
        </p:grpSpPr>
        <p:sp>
          <p:nvSpPr>
            <p:cNvPr id="37" name="object 37"/>
            <p:cNvSpPr/>
            <p:nvPr/>
          </p:nvSpPr>
          <p:spPr>
            <a:xfrm>
              <a:off x="13200214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975590"/>
                  </a:moveTo>
                  <a:lnTo>
                    <a:pt x="0" y="3683246"/>
                  </a:lnTo>
                </a:path>
                <a:path h="3683635">
                  <a:moveTo>
                    <a:pt x="0" y="0"/>
                  </a:moveTo>
                  <a:lnTo>
                    <a:pt x="0" y="923419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543274" y="1424258"/>
              <a:ext cx="1657350" cy="77470"/>
            </a:xfrm>
            <a:custGeom>
              <a:avLst/>
              <a:gdLst/>
              <a:ahLst/>
              <a:cxnLst/>
              <a:rect l="l" t="t" r="r" b="b"/>
              <a:pathLst>
                <a:path w="1657350" h="77469">
                  <a:moveTo>
                    <a:pt x="1656939" y="77212"/>
                  </a:moveTo>
                  <a:lnTo>
                    <a:pt x="1656939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656939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1543275" y="1424258"/>
              <a:ext cx="1657350" cy="77470"/>
            </a:xfrm>
            <a:custGeom>
              <a:avLst/>
              <a:gdLst/>
              <a:ahLst/>
              <a:cxnLst/>
              <a:rect l="l" t="t" r="r" b="b"/>
              <a:pathLst>
                <a:path w="1657350" h="77469">
                  <a:moveTo>
                    <a:pt x="0" y="0"/>
                  </a:moveTo>
                  <a:lnTo>
                    <a:pt x="0" y="77212"/>
                  </a:lnTo>
                  <a:lnTo>
                    <a:pt x="1656939" y="77212"/>
                  </a:lnTo>
                  <a:lnTo>
                    <a:pt x="1656939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941678" y="1404257"/>
            <a:ext cx="86296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Case</a:t>
            </a:r>
            <a:r>
              <a:rPr sz="50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Owner</a:t>
            </a:r>
            <a:r>
              <a:rPr sz="50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Review</a:t>
            </a:r>
            <a:r>
              <a:rPr sz="50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&amp;</a:t>
            </a:r>
            <a:r>
              <a:rPr sz="50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Approval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3197991" y="1422035"/>
            <a:ext cx="1788160" cy="3688079"/>
            <a:chOff x="13197991" y="1422035"/>
            <a:chExt cx="1788160" cy="3688079"/>
          </a:xfrm>
        </p:grpSpPr>
        <p:sp>
          <p:nvSpPr>
            <p:cNvPr id="42" name="object 42"/>
            <p:cNvSpPr/>
            <p:nvPr/>
          </p:nvSpPr>
          <p:spPr>
            <a:xfrm>
              <a:off x="14983406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3683246"/>
                  </a:moveTo>
                  <a:lnTo>
                    <a:pt x="0" y="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200213" y="1424258"/>
              <a:ext cx="1783714" cy="77470"/>
            </a:xfrm>
            <a:custGeom>
              <a:avLst/>
              <a:gdLst/>
              <a:ahLst/>
              <a:cxnLst/>
              <a:rect l="l" t="t" r="r" b="b"/>
              <a:pathLst>
                <a:path w="1783715" h="77469">
                  <a:moveTo>
                    <a:pt x="1783192" y="77212"/>
                  </a:moveTo>
                  <a:lnTo>
                    <a:pt x="1783192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783192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3200213" y="1424258"/>
              <a:ext cx="1783714" cy="77470"/>
            </a:xfrm>
            <a:custGeom>
              <a:avLst/>
              <a:gdLst/>
              <a:ahLst/>
              <a:cxnLst/>
              <a:rect l="l" t="t" r="r" b="b"/>
              <a:pathLst>
                <a:path w="1783715" h="77469">
                  <a:moveTo>
                    <a:pt x="0" y="0"/>
                  </a:moveTo>
                  <a:lnTo>
                    <a:pt x="0" y="77212"/>
                  </a:lnTo>
                  <a:lnTo>
                    <a:pt x="1783192" y="77212"/>
                  </a:lnTo>
                  <a:lnTo>
                    <a:pt x="1783192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3891817" y="1404257"/>
            <a:ext cx="40068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HOA</a:t>
            </a:r>
            <a:r>
              <a:rPr sz="500" spc="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Approval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4981184" y="1422035"/>
            <a:ext cx="870585" cy="3688079"/>
            <a:chOff x="14981184" y="1422035"/>
            <a:chExt cx="870585" cy="3688079"/>
          </a:xfrm>
        </p:grpSpPr>
        <p:sp>
          <p:nvSpPr>
            <p:cNvPr id="47" name="object 47"/>
            <p:cNvSpPr/>
            <p:nvPr/>
          </p:nvSpPr>
          <p:spPr>
            <a:xfrm>
              <a:off x="15849439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3683246"/>
                  </a:moveTo>
                  <a:lnTo>
                    <a:pt x="0" y="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983406" y="1424258"/>
              <a:ext cx="866140" cy="77470"/>
            </a:xfrm>
            <a:custGeom>
              <a:avLst/>
              <a:gdLst/>
              <a:ahLst/>
              <a:cxnLst/>
              <a:rect l="l" t="t" r="r" b="b"/>
              <a:pathLst>
                <a:path w="866140" h="77469">
                  <a:moveTo>
                    <a:pt x="866032" y="77212"/>
                  </a:moveTo>
                  <a:lnTo>
                    <a:pt x="866032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866032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4983407" y="1424258"/>
              <a:ext cx="866140" cy="77470"/>
            </a:xfrm>
            <a:custGeom>
              <a:avLst/>
              <a:gdLst/>
              <a:ahLst/>
              <a:cxnLst/>
              <a:rect l="l" t="t" r="r" b="b"/>
              <a:pathLst>
                <a:path w="866140" h="77469">
                  <a:moveTo>
                    <a:pt x="0" y="0"/>
                  </a:moveTo>
                  <a:lnTo>
                    <a:pt x="0" y="77212"/>
                  </a:lnTo>
                  <a:lnTo>
                    <a:pt x="866032" y="77212"/>
                  </a:lnTo>
                  <a:lnTo>
                    <a:pt x="866032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5274337" y="1404257"/>
            <a:ext cx="28511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Approved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187934" y="1422035"/>
            <a:ext cx="1050290" cy="3688079"/>
            <a:chOff x="7187934" y="1422035"/>
            <a:chExt cx="1050290" cy="3688079"/>
          </a:xfrm>
        </p:grpSpPr>
        <p:sp>
          <p:nvSpPr>
            <p:cNvPr id="52" name="object 52"/>
            <p:cNvSpPr/>
            <p:nvPr/>
          </p:nvSpPr>
          <p:spPr>
            <a:xfrm>
              <a:off x="8235656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3683246"/>
                  </a:moveTo>
                  <a:lnTo>
                    <a:pt x="0" y="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90156" y="1424258"/>
              <a:ext cx="1045844" cy="77470"/>
            </a:xfrm>
            <a:custGeom>
              <a:avLst/>
              <a:gdLst/>
              <a:ahLst/>
              <a:cxnLst/>
              <a:rect l="l" t="t" r="r" b="b"/>
              <a:pathLst>
                <a:path w="1045845" h="77469">
                  <a:moveTo>
                    <a:pt x="1045499" y="77212"/>
                  </a:moveTo>
                  <a:lnTo>
                    <a:pt x="1045499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045499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190157" y="1424258"/>
              <a:ext cx="1045844" cy="77470"/>
            </a:xfrm>
            <a:custGeom>
              <a:avLst/>
              <a:gdLst/>
              <a:ahLst/>
              <a:cxnLst/>
              <a:rect l="l" t="t" r="r" b="b"/>
              <a:pathLst>
                <a:path w="1045845" h="77469">
                  <a:moveTo>
                    <a:pt x="0" y="0"/>
                  </a:moveTo>
                  <a:lnTo>
                    <a:pt x="0" y="77212"/>
                  </a:lnTo>
                  <a:lnTo>
                    <a:pt x="1045499" y="77212"/>
                  </a:lnTo>
                  <a:lnTo>
                    <a:pt x="1045499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544736" y="1404257"/>
            <a:ext cx="337820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RCC</a:t>
            </a:r>
            <a:r>
              <a:rPr sz="50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Review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233434" y="1422035"/>
            <a:ext cx="1694814" cy="3688079"/>
            <a:chOff x="8233434" y="1422035"/>
            <a:chExt cx="1694814" cy="3688079"/>
          </a:xfrm>
        </p:grpSpPr>
        <p:sp>
          <p:nvSpPr>
            <p:cNvPr id="57" name="object 57"/>
            <p:cNvSpPr/>
            <p:nvPr/>
          </p:nvSpPr>
          <p:spPr>
            <a:xfrm>
              <a:off x="9925985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1596421"/>
                  </a:moveTo>
                  <a:lnTo>
                    <a:pt x="0" y="3683246"/>
                  </a:lnTo>
                </a:path>
                <a:path h="3683635">
                  <a:moveTo>
                    <a:pt x="0" y="0"/>
                  </a:moveTo>
                  <a:lnTo>
                    <a:pt x="0" y="154425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235656" y="1424258"/>
              <a:ext cx="1690370" cy="77470"/>
            </a:xfrm>
            <a:custGeom>
              <a:avLst/>
              <a:gdLst/>
              <a:ahLst/>
              <a:cxnLst/>
              <a:rect l="l" t="t" r="r" b="b"/>
              <a:pathLst>
                <a:path w="1690370" h="77469">
                  <a:moveTo>
                    <a:pt x="1690328" y="77212"/>
                  </a:moveTo>
                  <a:lnTo>
                    <a:pt x="1690328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690328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235657" y="1424258"/>
              <a:ext cx="1690370" cy="77470"/>
            </a:xfrm>
            <a:custGeom>
              <a:avLst/>
              <a:gdLst/>
              <a:ahLst/>
              <a:cxnLst/>
              <a:rect l="l" t="t" r="r" b="b"/>
              <a:pathLst>
                <a:path w="1690370" h="77469">
                  <a:moveTo>
                    <a:pt x="0" y="0"/>
                  </a:moveTo>
                  <a:lnTo>
                    <a:pt x="0" y="77212"/>
                  </a:lnTo>
                  <a:lnTo>
                    <a:pt x="1690328" y="77212"/>
                  </a:lnTo>
                  <a:lnTo>
                    <a:pt x="1690328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907431" y="1404257"/>
            <a:ext cx="346710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HoD</a:t>
            </a:r>
            <a:r>
              <a:rPr sz="50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Review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9923762" y="1422035"/>
            <a:ext cx="1621790" cy="3688079"/>
            <a:chOff x="9923762" y="1422035"/>
            <a:chExt cx="1621790" cy="3688079"/>
          </a:xfrm>
        </p:grpSpPr>
        <p:sp>
          <p:nvSpPr>
            <p:cNvPr id="62" name="object 62"/>
            <p:cNvSpPr/>
            <p:nvPr/>
          </p:nvSpPr>
          <p:spPr>
            <a:xfrm>
              <a:off x="11543274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1596421"/>
                  </a:moveTo>
                  <a:lnTo>
                    <a:pt x="0" y="3683246"/>
                  </a:lnTo>
                </a:path>
                <a:path h="3683635">
                  <a:moveTo>
                    <a:pt x="0" y="0"/>
                  </a:moveTo>
                  <a:lnTo>
                    <a:pt x="0" y="154425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925984" y="1424258"/>
              <a:ext cx="1617345" cy="77470"/>
            </a:xfrm>
            <a:custGeom>
              <a:avLst/>
              <a:gdLst/>
              <a:ahLst/>
              <a:cxnLst/>
              <a:rect l="l" t="t" r="r" b="b"/>
              <a:pathLst>
                <a:path w="1617345" h="77469">
                  <a:moveTo>
                    <a:pt x="1617289" y="77212"/>
                  </a:moveTo>
                  <a:lnTo>
                    <a:pt x="1617289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617289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925984" y="1424258"/>
              <a:ext cx="1617345" cy="77470"/>
            </a:xfrm>
            <a:custGeom>
              <a:avLst/>
              <a:gdLst/>
              <a:ahLst/>
              <a:cxnLst/>
              <a:rect l="l" t="t" r="r" b="b"/>
              <a:pathLst>
                <a:path w="1617345" h="77469">
                  <a:moveTo>
                    <a:pt x="0" y="0"/>
                  </a:moveTo>
                  <a:lnTo>
                    <a:pt x="0" y="77212"/>
                  </a:lnTo>
                  <a:lnTo>
                    <a:pt x="1617289" y="77212"/>
                  </a:lnTo>
                  <a:lnTo>
                    <a:pt x="1617289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0540374" y="1404257"/>
            <a:ext cx="38925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CEO</a:t>
            </a:r>
            <a:r>
              <a:rPr sz="50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Approval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386149" y="1422035"/>
            <a:ext cx="1668780" cy="3688079"/>
            <a:chOff x="2386149" y="1422035"/>
            <a:chExt cx="1668780" cy="3688079"/>
          </a:xfrm>
        </p:grpSpPr>
        <p:sp>
          <p:nvSpPr>
            <p:cNvPr id="67" name="object 67"/>
            <p:cNvSpPr/>
            <p:nvPr/>
          </p:nvSpPr>
          <p:spPr>
            <a:xfrm>
              <a:off x="4052614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3683246"/>
                  </a:moveTo>
                  <a:lnTo>
                    <a:pt x="0" y="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388371" y="1424258"/>
              <a:ext cx="1664335" cy="77470"/>
            </a:xfrm>
            <a:custGeom>
              <a:avLst/>
              <a:gdLst/>
              <a:ahLst/>
              <a:cxnLst/>
              <a:rect l="l" t="t" r="r" b="b"/>
              <a:pathLst>
                <a:path w="1664335" h="77469">
                  <a:moveTo>
                    <a:pt x="1664243" y="77212"/>
                  </a:moveTo>
                  <a:lnTo>
                    <a:pt x="1664243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1664243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388371" y="1424258"/>
              <a:ext cx="1664335" cy="77470"/>
            </a:xfrm>
            <a:custGeom>
              <a:avLst/>
              <a:gdLst/>
              <a:ahLst/>
              <a:cxnLst/>
              <a:rect l="l" t="t" r="r" b="b"/>
              <a:pathLst>
                <a:path w="1664335" h="77469">
                  <a:moveTo>
                    <a:pt x="0" y="0"/>
                  </a:moveTo>
                  <a:lnTo>
                    <a:pt x="0" y="77212"/>
                  </a:lnTo>
                  <a:lnTo>
                    <a:pt x="1664243" y="77212"/>
                  </a:lnTo>
                  <a:lnTo>
                    <a:pt x="1664243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124840" y="1404257"/>
            <a:ext cx="19494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Assign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16629775" y="1422035"/>
            <a:ext cx="781050" cy="81915"/>
            <a:chOff x="16629775" y="1422035"/>
            <a:chExt cx="781050" cy="81915"/>
          </a:xfrm>
        </p:grpSpPr>
        <p:sp>
          <p:nvSpPr>
            <p:cNvPr id="72" name="object 72"/>
            <p:cNvSpPr/>
            <p:nvPr/>
          </p:nvSpPr>
          <p:spPr>
            <a:xfrm>
              <a:off x="16631997" y="1424258"/>
              <a:ext cx="776605" cy="77470"/>
            </a:xfrm>
            <a:custGeom>
              <a:avLst/>
              <a:gdLst/>
              <a:ahLst/>
              <a:cxnLst/>
              <a:rect l="l" t="t" r="r" b="b"/>
              <a:pathLst>
                <a:path w="776605" h="77469">
                  <a:moveTo>
                    <a:pt x="776299" y="77212"/>
                  </a:moveTo>
                  <a:lnTo>
                    <a:pt x="776299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776299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6631998" y="1424258"/>
              <a:ext cx="776605" cy="77470"/>
            </a:xfrm>
            <a:custGeom>
              <a:avLst/>
              <a:gdLst/>
              <a:ahLst/>
              <a:cxnLst/>
              <a:rect l="l" t="t" r="r" b="b"/>
              <a:pathLst>
                <a:path w="776605" h="77469">
                  <a:moveTo>
                    <a:pt x="0" y="0"/>
                  </a:moveTo>
                  <a:lnTo>
                    <a:pt x="0" y="77212"/>
                  </a:lnTo>
                  <a:lnTo>
                    <a:pt x="776299" y="77212"/>
                  </a:lnTo>
                  <a:lnTo>
                    <a:pt x="776299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6767461" y="1404257"/>
            <a:ext cx="508000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Sanction</a:t>
            </a:r>
            <a:r>
              <a:rPr sz="500" spc="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Approval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5847217" y="1422035"/>
            <a:ext cx="787400" cy="3688079"/>
            <a:chOff x="15847217" y="1422035"/>
            <a:chExt cx="787400" cy="3688079"/>
          </a:xfrm>
        </p:grpSpPr>
        <p:sp>
          <p:nvSpPr>
            <p:cNvPr id="76" name="object 76"/>
            <p:cNvSpPr/>
            <p:nvPr/>
          </p:nvSpPr>
          <p:spPr>
            <a:xfrm>
              <a:off x="16631999" y="1424258"/>
              <a:ext cx="0" cy="3683635"/>
            </a:xfrm>
            <a:custGeom>
              <a:avLst/>
              <a:gdLst/>
              <a:ahLst/>
              <a:cxnLst/>
              <a:rect l="l" t="t" r="r" b="b"/>
              <a:pathLst>
                <a:path h="3683635">
                  <a:moveTo>
                    <a:pt x="0" y="3683246"/>
                  </a:moveTo>
                  <a:lnTo>
                    <a:pt x="0" y="0"/>
                  </a:lnTo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5849439" y="1424258"/>
              <a:ext cx="782955" cy="77470"/>
            </a:xfrm>
            <a:custGeom>
              <a:avLst/>
              <a:gdLst/>
              <a:ahLst/>
              <a:cxnLst/>
              <a:rect l="l" t="t" r="r" b="b"/>
              <a:pathLst>
                <a:path w="782955" h="77469">
                  <a:moveTo>
                    <a:pt x="782559" y="77212"/>
                  </a:moveTo>
                  <a:lnTo>
                    <a:pt x="782559" y="0"/>
                  </a:lnTo>
                  <a:lnTo>
                    <a:pt x="0" y="0"/>
                  </a:lnTo>
                  <a:lnTo>
                    <a:pt x="0" y="77212"/>
                  </a:lnTo>
                  <a:lnTo>
                    <a:pt x="782559" y="77212"/>
                  </a:lnTo>
                  <a:close/>
                </a:path>
              </a:pathLst>
            </a:custGeom>
            <a:solidFill>
              <a:srgbClr val="3C63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5849439" y="1424258"/>
              <a:ext cx="782955" cy="77470"/>
            </a:xfrm>
            <a:custGeom>
              <a:avLst/>
              <a:gdLst/>
              <a:ahLst/>
              <a:cxnLst/>
              <a:rect l="l" t="t" r="r" b="b"/>
              <a:pathLst>
                <a:path w="782955" h="77469">
                  <a:moveTo>
                    <a:pt x="0" y="0"/>
                  </a:moveTo>
                  <a:lnTo>
                    <a:pt x="0" y="77212"/>
                  </a:lnTo>
                  <a:lnTo>
                    <a:pt x="782559" y="77212"/>
                  </a:lnTo>
                  <a:lnTo>
                    <a:pt x="782559" y="0"/>
                  </a:lnTo>
                  <a:lnTo>
                    <a:pt x="0" y="0"/>
                  </a:lnTo>
                  <a:close/>
                </a:path>
              </a:pathLst>
            </a:custGeom>
            <a:ln w="406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5999508" y="1404257"/>
            <a:ext cx="48450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FDFFFF"/>
                </a:solidFill>
                <a:latin typeface="Calibri"/>
                <a:cs typeface="Calibri"/>
              </a:rPr>
              <a:t>Remedial</a:t>
            </a:r>
            <a:r>
              <a:rPr sz="500" spc="3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FDFFFF"/>
                </a:solidFill>
                <a:latin typeface="Calibri"/>
                <a:cs typeface="Calibri"/>
              </a:rPr>
              <a:t>Actions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47882" y="1562079"/>
            <a:ext cx="1704975" cy="1844039"/>
            <a:chOff x="547882" y="1562079"/>
            <a:chExt cx="1704975" cy="1844039"/>
          </a:xfrm>
        </p:grpSpPr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9384" y="1563031"/>
              <a:ext cx="752300" cy="154112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499384" y="1563032"/>
              <a:ext cx="752475" cy="1541145"/>
            </a:xfrm>
            <a:custGeom>
              <a:avLst/>
              <a:gdLst/>
              <a:ahLst/>
              <a:cxnLst/>
              <a:rect l="l" t="t" r="r" b="b"/>
              <a:pathLst>
                <a:path w="752475" h="1541145">
                  <a:moveTo>
                    <a:pt x="0" y="0"/>
                  </a:moveTo>
                  <a:lnTo>
                    <a:pt x="0" y="1541120"/>
                  </a:lnTo>
                  <a:lnTo>
                    <a:pt x="752300" y="1541120"/>
                  </a:lnTo>
                  <a:lnTo>
                    <a:pt x="752300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48835" y="3081197"/>
              <a:ext cx="570230" cy="323850"/>
            </a:xfrm>
            <a:custGeom>
              <a:avLst/>
              <a:gdLst/>
              <a:ahLst/>
              <a:cxnLst/>
              <a:rect l="l" t="t" r="r" b="b"/>
              <a:pathLst>
                <a:path w="570230" h="323850">
                  <a:moveTo>
                    <a:pt x="569703" y="323457"/>
                  </a:moveTo>
                  <a:lnTo>
                    <a:pt x="569703" y="0"/>
                  </a:lnTo>
                  <a:lnTo>
                    <a:pt x="0" y="0"/>
                  </a:lnTo>
                  <a:lnTo>
                    <a:pt x="0" y="323457"/>
                  </a:lnTo>
                  <a:lnTo>
                    <a:pt x="569703" y="32345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48835" y="3081197"/>
              <a:ext cx="570230" cy="323850"/>
            </a:xfrm>
            <a:custGeom>
              <a:avLst/>
              <a:gdLst/>
              <a:ahLst/>
              <a:cxnLst/>
              <a:rect l="l" t="t" r="r" b="b"/>
              <a:pathLst>
                <a:path w="570230" h="323850">
                  <a:moveTo>
                    <a:pt x="0" y="0"/>
                  </a:moveTo>
                  <a:lnTo>
                    <a:pt x="0" y="323457"/>
                  </a:lnTo>
                  <a:lnTo>
                    <a:pt x="569703" y="323457"/>
                  </a:lnTo>
                  <a:lnTo>
                    <a:pt x="569703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566371" y="3121714"/>
            <a:ext cx="535940" cy="234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Concern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raised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locally.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HR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50" dirty="0">
                <a:solidFill>
                  <a:srgbClr val="FDFFFF"/>
                </a:solidFill>
                <a:latin typeface="Calibri"/>
                <a:cs typeface="Calibri"/>
              </a:rPr>
              <a:t>/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LCA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reviews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concern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and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confirms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if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protected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/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its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severity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617380" y="2837130"/>
            <a:ext cx="542925" cy="233679"/>
            <a:chOff x="1617380" y="2837130"/>
            <a:chExt cx="542925" cy="233679"/>
          </a:xfrm>
        </p:grpSpPr>
        <p:sp>
          <p:nvSpPr>
            <p:cNvPr id="87" name="object 87"/>
            <p:cNvSpPr/>
            <p:nvPr/>
          </p:nvSpPr>
          <p:spPr>
            <a:xfrm>
              <a:off x="1618333" y="2838082"/>
              <a:ext cx="541020" cy="231775"/>
            </a:xfrm>
            <a:custGeom>
              <a:avLst/>
              <a:gdLst/>
              <a:ahLst/>
              <a:cxnLst/>
              <a:rect l="l" t="t" r="r" b="b"/>
              <a:pathLst>
                <a:path w="541019" h="231775">
                  <a:moveTo>
                    <a:pt x="540487" y="231637"/>
                  </a:moveTo>
                  <a:lnTo>
                    <a:pt x="540487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540487" y="23163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618333" y="2838082"/>
              <a:ext cx="541020" cy="231775"/>
            </a:xfrm>
            <a:custGeom>
              <a:avLst/>
              <a:gdLst/>
              <a:ahLst/>
              <a:cxnLst/>
              <a:rect l="l" t="t" r="r" b="b"/>
              <a:pathLst>
                <a:path w="541019" h="231775">
                  <a:moveTo>
                    <a:pt x="0" y="0"/>
                  </a:moveTo>
                  <a:lnTo>
                    <a:pt x="0" y="231637"/>
                  </a:lnTo>
                  <a:lnTo>
                    <a:pt x="540487" y="231637"/>
                  </a:lnTo>
                  <a:lnTo>
                    <a:pt x="540487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1651541" y="2858775"/>
            <a:ext cx="476250" cy="182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High</a:t>
            </a:r>
            <a:r>
              <a:rPr sz="350" b="1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Protected</a:t>
            </a:r>
            <a:r>
              <a:rPr sz="350" b="1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Concern</a:t>
            </a:r>
            <a:r>
              <a:rPr sz="350" b="1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50" dirty="0">
                <a:solidFill>
                  <a:srgbClr val="FDFFFF"/>
                </a:solidFill>
                <a:latin typeface="Calibri"/>
                <a:cs typeface="Calibri"/>
              </a:rPr>
              <a:t>-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LCA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sends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to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DRCC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within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24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hours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1115681" y="2935120"/>
            <a:ext cx="1044575" cy="424815"/>
            <a:chOff x="1115681" y="2935120"/>
            <a:chExt cx="1044575" cy="424815"/>
          </a:xfrm>
        </p:grpSpPr>
        <p:sp>
          <p:nvSpPr>
            <p:cNvPr id="91" name="object 91"/>
            <p:cNvSpPr/>
            <p:nvPr/>
          </p:nvSpPr>
          <p:spPr>
            <a:xfrm>
              <a:off x="1118538" y="2953901"/>
              <a:ext cx="466725" cy="289560"/>
            </a:xfrm>
            <a:custGeom>
              <a:avLst/>
              <a:gdLst/>
              <a:ahLst/>
              <a:cxnLst/>
              <a:rect l="l" t="t" r="r" b="b"/>
              <a:pathLst>
                <a:path w="466725" h="289560">
                  <a:moveTo>
                    <a:pt x="0" y="289025"/>
                  </a:moveTo>
                  <a:lnTo>
                    <a:pt x="270243" y="289025"/>
                  </a:lnTo>
                  <a:lnTo>
                    <a:pt x="270243" y="0"/>
                  </a:lnTo>
                  <a:lnTo>
                    <a:pt x="466405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580770" y="293512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7562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618333" y="3127107"/>
              <a:ext cx="541020" cy="231775"/>
            </a:xfrm>
            <a:custGeom>
              <a:avLst/>
              <a:gdLst/>
              <a:ahLst/>
              <a:cxnLst/>
              <a:rect l="l" t="t" r="r" b="b"/>
              <a:pathLst>
                <a:path w="541019" h="231775">
                  <a:moveTo>
                    <a:pt x="540487" y="231637"/>
                  </a:moveTo>
                  <a:lnTo>
                    <a:pt x="540487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540487" y="23163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618333" y="3127108"/>
              <a:ext cx="541020" cy="231775"/>
            </a:xfrm>
            <a:custGeom>
              <a:avLst/>
              <a:gdLst/>
              <a:ahLst/>
              <a:cxnLst/>
              <a:rect l="l" t="t" r="r" b="b"/>
              <a:pathLst>
                <a:path w="541019" h="231775">
                  <a:moveTo>
                    <a:pt x="0" y="0"/>
                  </a:moveTo>
                  <a:lnTo>
                    <a:pt x="0" y="231637"/>
                  </a:lnTo>
                  <a:lnTo>
                    <a:pt x="540487" y="231637"/>
                  </a:lnTo>
                  <a:lnTo>
                    <a:pt x="540487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1626489" y="3121714"/>
            <a:ext cx="526415" cy="234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Low</a:t>
            </a:r>
            <a:r>
              <a:rPr sz="350" b="1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b="1" dirty="0">
                <a:solidFill>
                  <a:srgbClr val="FDFFFF"/>
                </a:solidFill>
                <a:latin typeface="Calibri"/>
                <a:cs typeface="Calibri"/>
              </a:rPr>
              <a:t>&amp; </a:t>
            </a: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Medium</a:t>
            </a:r>
            <a:r>
              <a:rPr sz="350" b="1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Protected</a:t>
            </a:r>
            <a:r>
              <a:rPr sz="350" b="1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Concerns</a:t>
            </a:r>
            <a:r>
              <a:rPr sz="350" b="1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–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LCA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sends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to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DRCC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within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48</a:t>
            </a:r>
            <a:r>
              <a:rPr sz="350" spc="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hours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and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updates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CGR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if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a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WB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618333" y="3434914"/>
            <a:ext cx="541020" cy="231775"/>
          </a:xfrm>
          <a:prstGeom prst="rect">
            <a:avLst/>
          </a:prstGeom>
          <a:solidFill>
            <a:srgbClr val="EC7C30"/>
          </a:solidFill>
          <a:ln w="3175">
            <a:solidFill>
              <a:srgbClr val="C7C7C7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50">
              <a:latin typeface="Times New Roman"/>
              <a:cs typeface="Times New Roman"/>
            </a:endParaRPr>
          </a:p>
          <a:p>
            <a:pPr marL="128270" marR="36830" indent="-81915">
              <a:lnSpc>
                <a:spcPct val="100000"/>
              </a:lnSpc>
            </a:pPr>
            <a:r>
              <a:rPr sz="350" b="1" dirty="0">
                <a:solidFill>
                  <a:srgbClr val="FDFFFF"/>
                </a:solidFill>
                <a:latin typeface="Calibri"/>
                <a:cs typeface="Calibri"/>
              </a:rPr>
              <a:t>Non</a:t>
            </a:r>
            <a:r>
              <a:rPr sz="350" b="1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protected</a:t>
            </a:r>
            <a:r>
              <a:rPr sz="350" b="1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b="1" spc="-10" dirty="0">
                <a:solidFill>
                  <a:srgbClr val="FDFFFF"/>
                </a:solidFill>
                <a:latin typeface="Calibri"/>
                <a:cs typeface="Calibri"/>
              </a:rPr>
              <a:t>concern</a:t>
            </a:r>
            <a:r>
              <a:rPr sz="350" b="1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50" dirty="0">
                <a:solidFill>
                  <a:srgbClr val="FDFFFF"/>
                </a:solidFill>
                <a:latin typeface="Calibri"/>
                <a:cs typeface="Calibri"/>
              </a:rPr>
              <a:t>–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reviewed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locally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115681" y="2870519"/>
            <a:ext cx="3721735" cy="700405"/>
            <a:chOff x="1115681" y="2870519"/>
            <a:chExt cx="3721735" cy="700405"/>
          </a:xfrm>
        </p:grpSpPr>
        <p:sp>
          <p:nvSpPr>
            <p:cNvPr id="98" name="object 98"/>
            <p:cNvSpPr/>
            <p:nvPr/>
          </p:nvSpPr>
          <p:spPr>
            <a:xfrm>
              <a:off x="1118538" y="3242926"/>
              <a:ext cx="466725" cy="307975"/>
            </a:xfrm>
            <a:custGeom>
              <a:avLst/>
              <a:gdLst/>
              <a:ahLst/>
              <a:cxnLst/>
              <a:rect l="l" t="t" r="r" b="b"/>
              <a:pathLst>
                <a:path w="466725" h="307975">
                  <a:moveTo>
                    <a:pt x="0" y="0"/>
                  </a:moveTo>
                  <a:lnTo>
                    <a:pt x="270243" y="0"/>
                  </a:lnTo>
                  <a:lnTo>
                    <a:pt x="270243" y="307806"/>
                  </a:lnTo>
                  <a:lnTo>
                    <a:pt x="466405" y="307806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580770" y="3531952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7562" y="18781"/>
                  </a:moveTo>
                  <a:lnTo>
                    <a:pt x="0" y="0"/>
                  </a:lnTo>
                  <a:lnTo>
                    <a:pt x="0" y="38606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315554" y="2871471"/>
              <a:ext cx="520700" cy="246379"/>
            </a:xfrm>
            <a:custGeom>
              <a:avLst/>
              <a:gdLst/>
              <a:ahLst/>
              <a:cxnLst/>
              <a:rect l="l" t="t" r="r" b="b"/>
              <a:pathLst>
                <a:path w="520700" h="246380">
                  <a:moveTo>
                    <a:pt x="520662" y="246245"/>
                  </a:moveTo>
                  <a:lnTo>
                    <a:pt x="520662" y="0"/>
                  </a:lnTo>
                  <a:lnTo>
                    <a:pt x="0" y="0"/>
                  </a:lnTo>
                  <a:lnTo>
                    <a:pt x="0" y="246245"/>
                  </a:lnTo>
                  <a:lnTo>
                    <a:pt x="520662" y="246245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315555" y="2871471"/>
              <a:ext cx="520700" cy="246379"/>
            </a:xfrm>
            <a:custGeom>
              <a:avLst/>
              <a:gdLst/>
              <a:ahLst/>
              <a:cxnLst/>
              <a:rect l="l" t="t" r="r" b="b"/>
              <a:pathLst>
                <a:path w="520700" h="246380">
                  <a:moveTo>
                    <a:pt x="0" y="0"/>
                  </a:moveTo>
                  <a:lnTo>
                    <a:pt x="0" y="246245"/>
                  </a:lnTo>
                  <a:lnTo>
                    <a:pt x="520662" y="246245"/>
                  </a:lnTo>
                  <a:lnTo>
                    <a:pt x="52066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4334155" y="2925553"/>
            <a:ext cx="485140" cy="13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 marR="5080" indent="-191135">
              <a:lnSpc>
                <a:spcPct val="100000"/>
              </a:lnSpc>
              <a:spcBef>
                <a:spcPts val="95"/>
              </a:spcBef>
            </a:pP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LI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creates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investigation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5836941" y="2877823"/>
            <a:ext cx="522605" cy="233679"/>
            <a:chOff x="5836941" y="2877823"/>
            <a:chExt cx="522605" cy="233679"/>
          </a:xfrm>
        </p:grpSpPr>
        <p:sp>
          <p:nvSpPr>
            <p:cNvPr id="104" name="object 104"/>
            <p:cNvSpPr/>
            <p:nvPr/>
          </p:nvSpPr>
          <p:spPr>
            <a:xfrm>
              <a:off x="5837894" y="2878775"/>
              <a:ext cx="520700" cy="231775"/>
            </a:xfrm>
            <a:custGeom>
              <a:avLst/>
              <a:gdLst/>
              <a:ahLst/>
              <a:cxnLst/>
              <a:rect l="l" t="t" r="r" b="b"/>
              <a:pathLst>
                <a:path w="520700" h="231775">
                  <a:moveTo>
                    <a:pt x="520662" y="231637"/>
                  </a:moveTo>
                  <a:lnTo>
                    <a:pt x="520662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520662" y="23163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837894" y="2878775"/>
              <a:ext cx="520700" cy="231775"/>
            </a:xfrm>
            <a:custGeom>
              <a:avLst/>
              <a:gdLst/>
              <a:ahLst/>
              <a:cxnLst/>
              <a:rect l="l" t="t" r="r" b="b"/>
              <a:pathLst>
                <a:path w="520700" h="231775">
                  <a:moveTo>
                    <a:pt x="0" y="0"/>
                  </a:moveTo>
                  <a:lnTo>
                    <a:pt x="0" y="231637"/>
                  </a:lnTo>
                  <a:lnTo>
                    <a:pt x="520662" y="231637"/>
                  </a:lnTo>
                  <a:lnTo>
                    <a:pt x="52066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5951445" y="2925553"/>
            <a:ext cx="294005" cy="13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20" marR="5080" indent="-20955">
              <a:lnSpc>
                <a:spcPct val="100000"/>
              </a:lnSpc>
              <a:spcBef>
                <a:spcPts val="95"/>
              </a:spcBef>
            </a:pP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3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conducts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investigation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12513740" y="2256992"/>
            <a:ext cx="522605" cy="233679"/>
            <a:chOff x="12513740" y="2256992"/>
            <a:chExt cx="522605" cy="233679"/>
          </a:xfrm>
        </p:grpSpPr>
        <p:sp>
          <p:nvSpPr>
            <p:cNvPr id="108" name="object 108"/>
            <p:cNvSpPr/>
            <p:nvPr/>
          </p:nvSpPr>
          <p:spPr>
            <a:xfrm>
              <a:off x="12514692" y="2257944"/>
              <a:ext cx="520700" cy="231775"/>
            </a:xfrm>
            <a:custGeom>
              <a:avLst/>
              <a:gdLst/>
              <a:ahLst/>
              <a:cxnLst/>
              <a:rect l="l" t="t" r="r" b="b"/>
              <a:pathLst>
                <a:path w="520700" h="231775">
                  <a:moveTo>
                    <a:pt x="520662" y="231637"/>
                  </a:moveTo>
                  <a:lnTo>
                    <a:pt x="520662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520662" y="23163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2514692" y="2257945"/>
              <a:ext cx="520700" cy="231775"/>
            </a:xfrm>
            <a:custGeom>
              <a:avLst/>
              <a:gdLst/>
              <a:ahLst/>
              <a:cxnLst/>
              <a:rect l="l" t="t" r="r" b="b"/>
              <a:pathLst>
                <a:path w="520700" h="231775">
                  <a:moveTo>
                    <a:pt x="0" y="0"/>
                  </a:moveTo>
                  <a:lnTo>
                    <a:pt x="0" y="231637"/>
                  </a:lnTo>
                  <a:lnTo>
                    <a:pt x="520662" y="231637"/>
                  </a:lnTo>
                  <a:lnTo>
                    <a:pt x="52066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12530160" y="2304723"/>
            <a:ext cx="491490" cy="13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CO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reviews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feedback.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4153894" y="2102476"/>
            <a:ext cx="520700" cy="231775"/>
          </a:xfrm>
          <a:prstGeom prst="rect">
            <a:avLst/>
          </a:prstGeom>
          <a:solidFill>
            <a:srgbClr val="00AF50"/>
          </a:solidFill>
          <a:ln w="3175">
            <a:solidFill>
              <a:srgbClr val="C7C7C7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50">
              <a:latin typeface="Times New Roman"/>
              <a:cs typeface="Times New Roman"/>
            </a:endParaRPr>
          </a:p>
          <a:p>
            <a:pPr marL="184150" marR="38100" indent="-137160">
              <a:lnSpc>
                <a:spcPct val="100000"/>
              </a:lnSpc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Low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case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–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approval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not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required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4153894" y="2371677"/>
            <a:ext cx="520700" cy="231775"/>
          </a:xfrm>
          <a:prstGeom prst="rect">
            <a:avLst/>
          </a:prstGeom>
          <a:solidFill>
            <a:srgbClr val="00AF50"/>
          </a:solidFill>
          <a:ln w="3175">
            <a:solidFill>
              <a:srgbClr val="C7C7C7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74930" marR="60325" indent="-4445" algn="just">
              <a:lnSpc>
                <a:spcPct val="100000"/>
              </a:lnSpc>
              <a:spcBef>
                <a:spcPts val="254"/>
              </a:spcBef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Medium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cases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–</a:t>
            </a:r>
            <a:r>
              <a:rPr sz="350" spc="9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HoA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approves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or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provides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feedback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via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CO.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15125402" y="2255949"/>
            <a:ext cx="522605" cy="233045"/>
            <a:chOff x="15125402" y="2255949"/>
            <a:chExt cx="522605" cy="233045"/>
          </a:xfrm>
        </p:grpSpPr>
        <p:sp>
          <p:nvSpPr>
            <p:cNvPr id="114" name="object 114"/>
            <p:cNvSpPr/>
            <p:nvPr/>
          </p:nvSpPr>
          <p:spPr>
            <a:xfrm>
              <a:off x="15126354" y="2256901"/>
              <a:ext cx="520700" cy="231140"/>
            </a:xfrm>
            <a:custGeom>
              <a:avLst/>
              <a:gdLst/>
              <a:ahLst/>
              <a:cxnLst/>
              <a:rect l="l" t="t" r="r" b="b"/>
              <a:pathLst>
                <a:path w="520700" h="231139">
                  <a:moveTo>
                    <a:pt x="520662" y="230594"/>
                  </a:moveTo>
                  <a:lnTo>
                    <a:pt x="520662" y="0"/>
                  </a:lnTo>
                  <a:lnTo>
                    <a:pt x="0" y="0"/>
                  </a:lnTo>
                  <a:lnTo>
                    <a:pt x="0" y="230594"/>
                  </a:lnTo>
                  <a:lnTo>
                    <a:pt x="520662" y="230594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5126354" y="2256901"/>
              <a:ext cx="520700" cy="231140"/>
            </a:xfrm>
            <a:custGeom>
              <a:avLst/>
              <a:gdLst/>
              <a:ahLst/>
              <a:cxnLst/>
              <a:rect l="l" t="t" r="r" b="b"/>
              <a:pathLst>
                <a:path w="520700" h="231139">
                  <a:moveTo>
                    <a:pt x="0" y="0"/>
                  </a:moveTo>
                  <a:lnTo>
                    <a:pt x="0" y="230594"/>
                  </a:lnTo>
                  <a:lnTo>
                    <a:pt x="520662" y="230594"/>
                  </a:lnTo>
                  <a:lnTo>
                    <a:pt x="52066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15134521" y="2276550"/>
            <a:ext cx="505459" cy="182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DRCC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lets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LI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know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once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report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has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been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approved</a:t>
            </a:r>
            <a:r>
              <a:rPr sz="35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and</a:t>
            </a:r>
            <a:r>
              <a:rPr sz="350" spc="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case</a:t>
            </a:r>
            <a:r>
              <a:rPr sz="350" spc="3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closed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7480317" y="2255949"/>
            <a:ext cx="523875" cy="233045"/>
            <a:chOff x="7480317" y="2255949"/>
            <a:chExt cx="523875" cy="233045"/>
          </a:xfrm>
        </p:grpSpPr>
        <p:sp>
          <p:nvSpPr>
            <p:cNvPr id="118" name="object 118"/>
            <p:cNvSpPr/>
            <p:nvPr/>
          </p:nvSpPr>
          <p:spPr>
            <a:xfrm>
              <a:off x="7481269" y="2256901"/>
              <a:ext cx="521970" cy="231140"/>
            </a:xfrm>
            <a:custGeom>
              <a:avLst/>
              <a:gdLst/>
              <a:ahLst/>
              <a:cxnLst/>
              <a:rect l="l" t="t" r="r" b="b"/>
              <a:pathLst>
                <a:path w="521970" h="231139">
                  <a:moveTo>
                    <a:pt x="521706" y="230594"/>
                  </a:moveTo>
                  <a:lnTo>
                    <a:pt x="521706" y="0"/>
                  </a:lnTo>
                  <a:lnTo>
                    <a:pt x="0" y="0"/>
                  </a:lnTo>
                  <a:lnTo>
                    <a:pt x="0" y="230594"/>
                  </a:lnTo>
                  <a:lnTo>
                    <a:pt x="521706" y="230594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481269" y="2256901"/>
              <a:ext cx="521970" cy="231140"/>
            </a:xfrm>
            <a:custGeom>
              <a:avLst/>
              <a:gdLst/>
              <a:ahLst/>
              <a:cxnLst/>
              <a:rect l="l" t="t" r="r" b="b"/>
              <a:pathLst>
                <a:path w="521970" h="231139">
                  <a:moveTo>
                    <a:pt x="0" y="0"/>
                  </a:moveTo>
                  <a:lnTo>
                    <a:pt x="0" y="230594"/>
                  </a:lnTo>
                  <a:lnTo>
                    <a:pt x="521706" y="230594"/>
                  </a:lnTo>
                  <a:lnTo>
                    <a:pt x="521706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7493609" y="2276550"/>
            <a:ext cx="498475" cy="182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DRCC</a:t>
            </a:r>
            <a:r>
              <a:rPr sz="3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r>
              <a:rPr sz="3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reviews</a:t>
            </a:r>
            <a:r>
              <a:rPr sz="3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draft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3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feedback.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442252" y="2878775"/>
            <a:ext cx="516890" cy="231775"/>
          </a:xfrm>
          <a:prstGeom prst="rect">
            <a:avLst/>
          </a:prstGeom>
          <a:solidFill>
            <a:srgbClr val="EC7C30"/>
          </a:solidFill>
          <a:ln w="3175">
            <a:solidFill>
              <a:srgbClr val="C7C7C7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550">
                <a:solidFill>
                  <a:srgbClr val="404040"/>
                </a:solidFill>
              </a:rPr>
              <a:t>CEO reviews the report and provides approval / feedback (conditional – see below)</a:t>
            </a:r>
            <a:endParaRPr sz="35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0821233" y="2878775"/>
            <a:ext cx="520700" cy="231775"/>
          </a:xfrm>
          <a:prstGeom prst="rect">
            <a:avLst/>
          </a:prstGeom>
          <a:solidFill>
            <a:srgbClr val="EC7C30"/>
          </a:solidFill>
          <a:ln w="3175">
            <a:solidFill>
              <a:srgbClr val="C7C7C7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50">
              <a:latin typeface="Times New Roman"/>
              <a:cs typeface="Times New Roman"/>
            </a:endParaRPr>
          </a:p>
          <a:p>
            <a:pPr marL="93345" marR="8890" indent="-76200">
              <a:lnSpc>
                <a:spcPct val="100000"/>
              </a:lnSpc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CEO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reviews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feedback.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2642011" y="2255949"/>
            <a:ext cx="539750" cy="233045"/>
            <a:chOff x="2642011" y="2255949"/>
            <a:chExt cx="539750" cy="233045"/>
          </a:xfrm>
        </p:grpSpPr>
        <p:sp>
          <p:nvSpPr>
            <p:cNvPr id="124" name="object 124"/>
            <p:cNvSpPr/>
            <p:nvPr/>
          </p:nvSpPr>
          <p:spPr>
            <a:xfrm>
              <a:off x="2642964" y="2256901"/>
              <a:ext cx="537845" cy="231140"/>
            </a:xfrm>
            <a:custGeom>
              <a:avLst/>
              <a:gdLst/>
              <a:ahLst/>
              <a:cxnLst/>
              <a:rect l="l" t="t" r="r" b="b"/>
              <a:pathLst>
                <a:path w="537844" h="231139">
                  <a:moveTo>
                    <a:pt x="537357" y="230594"/>
                  </a:moveTo>
                  <a:lnTo>
                    <a:pt x="537357" y="0"/>
                  </a:lnTo>
                  <a:lnTo>
                    <a:pt x="0" y="0"/>
                  </a:lnTo>
                  <a:lnTo>
                    <a:pt x="0" y="230594"/>
                  </a:lnTo>
                  <a:lnTo>
                    <a:pt x="537357" y="230594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642964" y="2256901"/>
              <a:ext cx="537845" cy="231140"/>
            </a:xfrm>
            <a:custGeom>
              <a:avLst/>
              <a:gdLst/>
              <a:ahLst/>
              <a:cxnLst/>
              <a:rect l="l" t="t" r="r" b="b"/>
              <a:pathLst>
                <a:path w="537844" h="231139">
                  <a:moveTo>
                    <a:pt x="0" y="0"/>
                  </a:moveTo>
                  <a:lnTo>
                    <a:pt x="0" y="230594"/>
                  </a:lnTo>
                  <a:lnTo>
                    <a:pt x="537357" y="230594"/>
                  </a:lnTo>
                  <a:lnTo>
                    <a:pt x="537357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2717909" y="2328721"/>
            <a:ext cx="38798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DRCC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assigns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CO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15644159" y="2368819"/>
            <a:ext cx="390525" cy="642620"/>
            <a:chOff x="15644159" y="2368819"/>
            <a:chExt cx="390525" cy="642620"/>
          </a:xfrm>
        </p:grpSpPr>
        <p:sp>
          <p:nvSpPr>
            <p:cNvPr id="128" name="object 128"/>
            <p:cNvSpPr/>
            <p:nvPr/>
          </p:nvSpPr>
          <p:spPr>
            <a:xfrm>
              <a:off x="15647017" y="2371677"/>
              <a:ext cx="354330" cy="621030"/>
            </a:xfrm>
            <a:custGeom>
              <a:avLst/>
              <a:gdLst/>
              <a:ahLst/>
              <a:cxnLst/>
              <a:rect l="l" t="t" r="r" b="b"/>
              <a:pathLst>
                <a:path w="354330" h="621030">
                  <a:moveTo>
                    <a:pt x="0" y="0"/>
                  </a:moveTo>
                  <a:lnTo>
                    <a:pt x="115818" y="0"/>
                  </a:lnTo>
                  <a:lnTo>
                    <a:pt x="115818" y="620830"/>
                  </a:lnTo>
                  <a:lnTo>
                    <a:pt x="353716" y="62083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5995517" y="2973726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4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16778076" y="2876688"/>
            <a:ext cx="521970" cy="231775"/>
          </a:xfrm>
          <a:prstGeom prst="rect">
            <a:avLst/>
          </a:prstGeom>
          <a:solidFill>
            <a:srgbClr val="EC7C30"/>
          </a:solidFill>
          <a:ln w="3175">
            <a:solidFill>
              <a:srgbClr val="C7C7C7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50">
              <a:latin typeface="Times New Roman"/>
              <a:cs typeface="Times New Roman"/>
            </a:endParaRPr>
          </a:p>
          <a:p>
            <a:pPr marL="76835" marR="20955" indent="-46990">
              <a:lnSpc>
                <a:spcPct val="100000"/>
              </a:lnSpc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Sanction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approval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process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initiated</a:t>
            </a:r>
            <a:r>
              <a:rPr sz="350" spc="2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(if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required)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16033171" y="2845477"/>
            <a:ext cx="522605" cy="294640"/>
            <a:chOff x="16033171" y="2845477"/>
            <a:chExt cx="522605" cy="294640"/>
          </a:xfrm>
        </p:grpSpPr>
        <p:sp>
          <p:nvSpPr>
            <p:cNvPr id="132" name="object 132"/>
            <p:cNvSpPr/>
            <p:nvPr/>
          </p:nvSpPr>
          <p:spPr>
            <a:xfrm>
              <a:off x="16034123" y="2846429"/>
              <a:ext cx="520700" cy="292735"/>
            </a:xfrm>
            <a:custGeom>
              <a:avLst/>
              <a:gdLst/>
              <a:ahLst/>
              <a:cxnLst/>
              <a:rect l="l" t="t" r="r" b="b"/>
              <a:pathLst>
                <a:path w="520700" h="292735">
                  <a:moveTo>
                    <a:pt x="520662" y="292155"/>
                  </a:moveTo>
                  <a:lnTo>
                    <a:pt x="520662" y="0"/>
                  </a:lnTo>
                  <a:lnTo>
                    <a:pt x="0" y="0"/>
                  </a:lnTo>
                  <a:lnTo>
                    <a:pt x="0" y="292155"/>
                  </a:lnTo>
                  <a:lnTo>
                    <a:pt x="520662" y="292155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6034124" y="2846429"/>
              <a:ext cx="520700" cy="292735"/>
            </a:xfrm>
            <a:custGeom>
              <a:avLst/>
              <a:gdLst/>
              <a:ahLst/>
              <a:cxnLst/>
              <a:rect l="l" t="t" r="r" b="b"/>
              <a:pathLst>
                <a:path w="520700" h="292735">
                  <a:moveTo>
                    <a:pt x="0" y="0"/>
                  </a:moveTo>
                  <a:lnTo>
                    <a:pt x="0" y="292155"/>
                  </a:lnTo>
                  <a:lnTo>
                    <a:pt x="520662" y="292155"/>
                  </a:lnTo>
                  <a:lnTo>
                    <a:pt x="52066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16049589" y="2845211"/>
            <a:ext cx="490855" cy="287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LI</a:t>
            </a:r>
            <a:r>
              <a:rPr sz="350" spc="-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to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ensure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 remedial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actions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are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implemented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(CO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accountable)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and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GCR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has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been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updated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if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case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was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raised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by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a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WB.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3274319" y="2255949"/>
            <a:ext cx="13503910" cy="755650"/>
            <a:chOff x="3274319" y="2255949"/>
            <a:chExt cx="13503910" cy="755650"/>
          </a:xfrm>
        </p:grpSpPr>
        <p:sp>
          <p:nvSpPr>
            <p:cNvPr id="136" name="object 136"/>
            <p:cNvSpPr/>
            <p:nvPr/>
          </p:nvSpPr>
          <p:spPr>
            <a:xfrm>
              <a:off x="16554786" y="2992507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>
                  <a:moveTo>
                    <a:pt x="0" y="0"/>
                  </a:moveTo>
                  <a:lnTo>
                    <a:pt x="189901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6740513" y="297372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7562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275272" y="2256901"/>
              <a:ext cx="536575" cy="231140"/>
            </a:xfrm>
            <a:custGeom>
              <a:avLst/>
              <a:gdLst/>
              <a:ahLst/>
              <a:cxnLst/>
              <a:rect l="l" t="t" r="r" b="b"/>
              <a:pathLst>
                <a:path w="536575" h="231139">
                  <a:moveTo>
                    <a:pt x="536314" y="230594"/>
                  </a:moveTo>
                  <a:lnTo>
                    <a:pt x="536314" y="0"/>
                  </a:lnTo>
                  <a:lnTo>
                    <a:pt x="0" y="0"/>
                  </a:lnTo>
                  <a:lnTo>
                    <a:pt x="0" y="230594"/>
                  </a:lnTo>
                  <a:lnTo>
                    <a:pt x="536314" y="230594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275272" y="2256901"/>
              <a:ext cx="536575" cy="231140"/>
            </a:xfrm>
            <a:custGeom>
              <a:avLst/>
              <a:gdLst/>
              <a:ahLst/>
              <a:cxnLst/>
              <a:rect l="l" t="t" r="r" b="b"/>
              <a:pathLst>
                <a:path w="536575" h="231139">
                  <a:moveTo>
                    <a:pt x="0" y="0"/>
                  </a:moveTo>
                  <a:lnTo>
                    <a:pt x="0" y="230594"/>
                  </a:lnTo>
                  <a:lnTo>
                    <a:pt x="536314" y="230594"/>
                  </a:lnTo>
                  <a:lnTo>
                    <a:pt x="53631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2502966" y="3903231"/>
            <a:ext cx="1387475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DRCC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assign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Case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Owner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from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Industrial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Department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Level.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This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is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likely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to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be: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HR;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HSEC.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2502966" y="4294598"/>
            <a:ext cx="1405255" cy="41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Case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Owner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assign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Lead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Investigator.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This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likely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to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Investigator,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who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is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also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LCA.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If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concern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being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investigated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by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Investigator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could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lead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to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(perceived)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CoI,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it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assigned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to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Department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Lead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Investigator.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2502966" y="4764251"/>
            <a:ext cx="1390015" cy="260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Internal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Audit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ALE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is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responsible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for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ALE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Investigators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and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kept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up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to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date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on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progress.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3383606" y="2328721"/>
            <a:ext cx="32067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CO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assigns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LI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469354" y="3903231"/>
            <a:ext cx="700405" cy="495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Concerns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mays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raised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locally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through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number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channels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such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as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Resguarda,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HR,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ALE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Whistleblowing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Contacts.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469354" y="4451171"/>
            <a:ext cx="591185" cy="260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risk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rating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can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upgraded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during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process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(if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required).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4167209" y="3901325"/>
            <a:ext cx="1322070" cy="495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Department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Case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Owner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may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delegate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review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investigation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plan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to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one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their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direct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reports.</a:t>
            </a:r>
            <a:r>
              <a:rPr sz="500" spc="14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For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example,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may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ask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Business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Partner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to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review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investigation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plan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Lead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Investigator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has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put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together.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4167209" y="4449264"/>
            <a:ext cx="1281430" cy="18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default,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report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anonymised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and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names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only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provided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where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necessary.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408444" y="3890019"/>
            <a:ext cx="835025" cy="495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LCA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to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share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report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with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relevant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DRCC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members.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For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example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an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case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would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shared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with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and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Business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Partner.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5756353" y="3903757"/>
            <a:ext cx="1292860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Lead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Investigator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conduct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interviews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/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review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documents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/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any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other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necessary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steps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and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ensure</a:t>
            </a:r>
            <a:r>
              <a:rPr sz="500" spc="3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confidentiality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at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all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times.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5756353" y="4295124"/>
            <a:ext cx="1332865" cy="18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Email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Review: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Form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has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been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created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and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agreed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with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Data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Privacy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SME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Baar.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7304806" y="3903888"/>
            <a:ext cx="748665" cy="18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For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cases,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this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would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Business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Partner.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7304806" y="4138682"/>
            <a:ext cx="723265" cy="260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For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cases,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this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would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Senior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Officer.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7304806" y="4451762"/>
            <a:ext cx="683895" cy="18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For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HSEC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only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cases,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this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would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HSEC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Lead.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1115681" y="2251775"/>
            <a:ext cx="4340860" cy="1010285"/>
            <a:chOff x="1115681" y="2251775"/>
            <a:chExt cx="4340860" cy="1010285"/>
          </a:xfrm>
        </p:grpSpPr>
        <p:sp>
          <p:nvSpPr>
            <p:cNvPr id="155" name="object 155"/>
            <p:cNvSpPr/>
            <p:nvPr/>
          </p:nvSpPr>
          <p:spPr>
            <a:xfrm>
              <a:off x="1118538" y="3242926"/>
              <a:ext cx="466725" cy="0"/>
            </a:xfrm>
            <a:custGeom>
              <a:avLst/>
              <a:gdLst/>
              <a:ahLst/>
              <a:cxnLst/>
              <a:rect l="l" t="t" r="r" b="b"/>
              <a:pathLst>
                <a:path w="466725">
                  <a:moveTo>
                    <a:pt x="0" y="0"/>
                  </a:moveTo>
                  <a:lnTo>
                    <a:pt x="466405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580770" y="322414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7562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777786" y="2252727"/>
              <a:ext cx="677545" cy="231775"/>
            </a:xfrm>
            <a:custGeom>
              <a:avLst/>
              <a:gdLst/>
              <a:ahLst/>
              <a:cxnLst/>
              <a:rect l="l" t="t" r="r" b="b"/>
              <a:pathLst>
                <a:path w="677545" h="231775">
                  <a:moveTo>
                    <a:pt x="677174" y="231637"/>
                  </a:moveTo>
                  <a:lnTo>
                    <a:pt x="677174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677174" y="23163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777787" y="2252728"/>
              <a:ext cx="677545" cy="231775"/>
            </a:xfrm>
            <a:custGeom>
              <a:avLst/>
              <a:gdLst/>
              <a:ahLst/>
              <a:cxnLst/>
              <a:rect l="l" t="t" r="r" b="b"/>
              <a:pathLst>
                <a:path w="677545" h="231775">
                  <a:moveTo>
                    <a:pt x="0" y="0"/>
                  </a:moveTo>
                  <a:lnTo>
                    <a:pt x="0" y="231637"/>
                  </a:lnTo>
                  <a:lnTo>
                    <a:pt x="677174" y="231637"/>
                  </a:lnTo>
                  <a:lnTo>
                    <a:pt x="677174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8349207" y="3901144"/>
            <a:ext cx="1434465" cy="260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0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report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only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shared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with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relevant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HoD.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For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example,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raising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concerns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only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shared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with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Manager.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8349207" y="4216985"/>
            <a:ext cx="1383665" cy="20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95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report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not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shared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if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there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conflict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5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interest.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4777589" y="2247335"/>
            <a:ext cx="677545" cy="234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CO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reviews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and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approves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investigation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plan.</a:t>
            </a:r>
            <a:r>
              <a:rPr sz="350" spc="8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Plan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to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be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shared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with</a:t>
            </a:r>
            <a:r>
              <a:rPr sz="35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RCI</a:t>
            </a:r>
            <a:r>
              <a:rPr sz="35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Team</a:t>
            </a:r>
            <a:r>
              <a:rPr sz="35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once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approved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(for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medium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cases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only)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0039536" y="3892401"/>
            <a:ext cx="131445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report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not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shared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if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there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conflict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interest.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11740570" y="2877823"/>
            <a:ext cx="523875" cy="233679"/>
            <a:chOff x="11740570" y="2877823"/>
            <a:chExt cx="523875" cy="233679"/>
          </a:xfrm>
        </p:grpSpPr>
        <p:sp>
          <p:nvSpPr>
            <p:cNvPr id="164" name="object 164"/>
            <p:cNvSpPr/>
            <p:nvPr/>
          </p:nvSpPr>
          <p:spPr>
            <a:xfrm>
              <a:off x="11741523" y="2878775"/>
              <a:ext cx="521970" cy="231775"/>
            </a:xfrm>
            <a:custGeom>
              <a:avLst/>
              <a:gdLst/>
              <a:ahLst/>
              <a:cxnLst/>
              <a:rect l="l" t="t" r="r" b="b"/>
              <a:pathLst>
                <a:path w="521970" h="231775">
                  <a:moveTo>
                    <a:pt x="521706" y="231637"/>
                  </a:moveTo>
                  <a:lnTo>
                    <a:pt x="521706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521706" y="23163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1741523" y="2878775"/>
              <a:ext cx="521970" cy="231775"/>
            </a:xfrm>
            <a:custGeom>
              <a:avLst/>
              <a:gdLst/>
              <a:ahLst/>
              <a:cxnLst/>
              <a:rect l="l" t="t" r="r" b="b"/>
              <a:pathLst>
                <a:path w="521970" h="231775">
                  <a:moveTo>
                    <a:pt x="0" y="0"/>
                  </a:moveTo>
                  <a:lnTo>
                    <a:pt x="0" y="231637"/>
                  </a:lnTo>
                  <a:lnTo>
                    <a:pt x="521706" y="231637"/>
                  </a:lnTo>
                  <a:lnTo>
                    <a:pt x="521706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11748636" y="2925553"/>
            <a:ext cx="509270" cy="13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145">
              <a:lnSpc>
                <a:spcPct val="100000"/>
              </a:lnSpc>
              <a:spcBef>
                <a:spcPts val="95"/>
              </a:spcBef>
            </a:pP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 sends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report 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CO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review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approval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11657869" y="3900101"/>
            <a:ext cx="854075" cy="104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Report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will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not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anonymised.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13371334" y="2257945"/>
            <a:ext cx="520700" cy="231775"/>
          </a:xfrm>
          <a:prstGeom prst="rect">
            <a:avLst/>
          </a:prstGeom>
          <a:solidFill>
            <a:srgbClr val="00AF50"/>
          </a:solidFill>
          <a:ln w="3175">
            <a:solidFill>
              <a:srgbClr val="C7C7C7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50">
              <a:latin typeface="Times New Roman"/>
              <a:cs typeface="Times New Roman"/>
            </a:endParaRPr>
          </a:p>
          <a:p>
            <a:pPr marL="107314" marR="15875" indent="-81915">
              <a:lnSpc>
                <a:spcPct val="100000"/>
              </a:lnSpc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CO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sends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report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to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HOA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for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approval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69" name="object 169"/>
          <p:cNvGrpSpPr/>
          <p:nvPr/>
        </p:nvGrpSpPr>
        <p:grpSpPr>
          <a:xfrm>
            <a:off x="14152940" y="2875736"/>
            <a:ext cx="522605" cy="233679"/>
            <a:chOff x="14152940" y="2875736"/>
            <a:chExt cx="522605" cy="233679"/>
          </a:xfrm>
        </p:grpSpPr>
        <p:sp>
          <p:nvSpPr>
            <p:cNvPr id="170" name="object 170"/>
            <p:cNvSpPr/>
            <p:nvPr/>
          </p:nvSpPr>
          <p:spPr>
            <a:xfrm>
              <a:off x="14153892" y="2876688"/>
              <a:ext cx="520700" cy="231775"/>
            </a:xfrm>
            <a:custGeom>
              <a:avLst/>
              <a:gdLst/>
              <a:ahLst/>
              <a:cxnLst/>
              <a:rect l="l" t="t" r="r" b="b"/>
              <a:pathLst>
                <a:path w="520700" h="231775">
                  <a:moveTo>
                    <a:pt x="520662" y="231637"/>
                  </a:moveTo>
                  <a:lnTo>
                    <a:pt x="520662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520662" y="23163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4153893" y="2876688"/>
              <a:ext cx="520700" cy="231775"/>
            </a:xfrm>
            <a:custGeom>
              <a:avLst/>
              <a:gdLst/>
              <a:ahLst/>
              <a:cxnLst/>
              <a:rect l="l" t="t" r="r" b="b"/>
              <a:pathLst>
                <a:path w="520700" h="231775">
                  <a:moveTo>
                    <a:pt x="0" y="0"/>
                  </a:moveTo>
                  <a:lnTo>
                    <a:pt x="0" y="231637"/>
                  </a:lnTo>
                  <a:lnTo>
                    <a:pt x="520662" y="231637"/>
                  </a:lnTo>
                  <a:lnTo>
                    <a:pt x="52066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2" name="object 172"/>
          <p:cNvSpPr txBox="1"/>
          <p:nvPr/>
        </p:nvSpPr>
        <p:spPr>
          <a:xfrm>
            <a:off x="14153714" y="2897381"/>
            <a:ext cx="523875" cy="182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 updates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35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feedback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sends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back.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73" name="object 173"/>
          <p:cNvGrpSpPr/>
          <p:nvPr/>
        </p:nvGrpSpPr>
        <p:grpSpPr>
          <a:xfrm>
            <a:off x="6534984" y="2877823"/>
            <a:ext cx="522605" cy="233679"/>
            <a:chOff x="6534984" y="2877823"/>
            <a:chExt cx="522605" cy="233679"/>
          </a:xfrm>
        </p:grpSpPr>
        <p:sp>
          <p:nvSpPr>
            <p:cNvPr id="174" name="object 174"/>
            <p:cNvSpPr/>
            <p:nvPr/>
          </p:nvSpPr>
          <p:spPr>
            <a:xfrm>
              <a:off x="6535937" y="2878775"/>
              <a:ext cx="520700" cy="231775"/>
            </a:xfrm>
            <a:custGeom>
              <a:avLst/>
              <a:gdLst/>
              <a:ahLst/>
              <a:cxnLst/>
              <a:rect l="l" t="t" r="r" b="b"/>
              <a:pathLst>
                <a:path w="520700" h="231775">
                  <a:moveTo>
                    <a:pt x="520662" y="231637"/>
                  </a:moveTo>
                  <a:lnTo>
                    <a:pt x="520662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520662" y="231637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6535937" y="2878775"/>
              <a:ext cx="520700" cy="231775"/>
            </a:xfrm>
            <a:custGeom>
              <a:avLst/>
              <a:gdLst/>
              <a:ahLst/>
              <a:cxnLst/>
              <a:rect l="l" t="t" r="r" b="b"/>
              <a:pathLst>
                <a:path w="520700" h="231775">
                  <a:moveTo>
                    <a:pt x="0" y="0"/>
                  </a:moveTo>
                  <a:lnTo>
                    <a:pt x="0" y="231637"/>
                  </a:lnTo>
                  <a:lnTo>
                    <a:pt x="520662" y="231637"/>
                  </a:lnTo>
                  <a:lnTo>
                    <a:pt x="52066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6" name="object 176"/>
          <p:cNvSpPr txBox="1"/>
          <p:nvPr/>
        </p:nvSpPr>
        <p:spPr>
          <a:xfrm>
            <a:off x="6630706" y="2951638"/>
            <a:ext cx="331470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LI</a:t>
            </a:r>
            <a:r>
              <a:rPr sz="3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drafts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9177858" y="2878775"/>
            <a:ext cx="516890" cy="231775"/>
          </a:xfrm>
          <a:prstGeom prst="rect">
            <a:avLst/>
          </a:prstGeom>
          <a:solidFill>
            <a:srgbClr val="EC7C30"/>
          </a:solidFill>
          <a:ln w="3175">
            <a:solidFill>
              <a:srgbClr val="C7C7C7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9845" marR="21590" algn="ctr">
              <a:lnSpc>
                <a:spcPct val="100000"/>
              </a:lnSpc>
              <a:spcBef>
                <a:spcPts val="254"/>
              </a:spcBef>
            </a:pP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Relevant</a:t>
            </a:r>
            <a:r>
              <a:rPr sz="3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HoD</a:t>
            </a:r>
            <a:r>
              <a:rPr sz="3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reviews</a:t>
            </a:r>
            <a:r>
              <a:rPr sz="35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sz="3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3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FFFFF"/>
                </a:solidFill>
                <a:latin typeface="Calibri"/>
                <a:cs typeface="Calibri"/>
              </a:rPr>
              <a:t>feedback.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0050151" y="2878775"/>
            <a:ext cx="521970" cy="231775"/>
          </a:xfrm>
          <a:prstGeom prst="rect">
            <a:avLst/>
          </a:prstGeom>
          <a:solidFill>
            <a:srgbClr val="EC7C30"/>
          </a:solidFill>
          <a:ln w="3175">
            <a:solidFill>
              <a:srgbClr val="C7C7C7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7465" marR="28575" algn="l">
              <a:lnSpc>
                <a:spcPct val="100000"/>
              </a:lnSpc>
              <a:spcBef>
                <a:spcPts val="254"/>
              </a:spcBef>
            </a:pPr>
            <a:r>
              <a:rPr sz="550">
                <a:solidFill>
                  <a:srgbClr val="404040"/>
                </a:solidFill>
              </a:rPr>
              <a:t>LI sends the report to the CEO for review and approval (conditional – see below)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79" name="object 179"/>
          <p:cNvGrpSpPr/>
          <p:nvPr/>
        </p:nvGrpSpPr>
        <p:grpSpPr>
          <a:xfrm>
            <a:off x="2155963" y="2348721"/>
            <a:ext cx="3044825" cy="897255"/>
            <a:chOff x="2155963" y="2348721"/>
            <a:chExt cx="3044825" cy="897255"/>
          </a:xfrm>
        </p:grpSpPr>
        <p:sp>
          <p:nvSpPr>
            <p:cNvPr id="180" name="object 180"/>
            <p:cNvSpPr/>
            <p:nvPr/>
          </p:nvSpPr>
          <p:spPr>
            <a:xfrm>
              <a:off x="2158820" y="2371676"/>
              <a:ext cx="450850" cy="871855"/>
            </a:xfrm>
            <a:custGeom>
              <a:avLst/>
              <a:gdLst/>
              <a:ahLst/>
              <a:cxnLst/>
              <a:rect l="l" t="t" r="r" b="b"/>
              <a:pathLst>
                <a:path w="450850" h="871855">
                  <a:moveTo>
                    <a:pt x="0" y="871249"/>
                  </a:moveTo>
                  <a:lnTo>
                    <a:pt x="368324" y="871249"/>
                  </a:lnTo>
                  <a:lnTo>
                    <a:pt x="368324" y="0"/>
                  </a:lnTo>
                  <a:lnTo>
                    <a:pt x="450754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604358" y="2352895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38606" y="18781"/>
                  </a:moveTo>
                  <a:lnTo>
                    <a:pt x="0" y="0"/>
                  </a:lnTo>
                  <a:lnTo>
                    <a:pt x="0" y="38606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3180322" y="2371677"/>
              <a:ext cx="60960" cy="0"/>
            </a:xfrm>
            <a:custGeom>
              <a:avLst/>
              <a:gdLst/>
              <a:ahLst/>
              <a:cxnLst/>
              <a:rect l="l" t="t" r="r" b="b"/>
              <a:pathLst>
                <a:path w="60960">
                  <a:moveTo>
                    <a:pt x="0" y="0"/>
                  </a:moveTo>
                  <a:lnTo>
                    <a:pt x="60517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3236666" y="2352895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38606" y="18781"/>
                  </a:moveTo>
                  <a:lnTo>
                    <a:pt x="0" y="0"/>
                  </a:lnTo>
                  <a:lnTo>
                    <a:pt x="0" y="38606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3543429" y="2487495"/>
              <a:ext cx="739140" cy="507365"/>
            </a:xfrm>
            <a:custGeom>
              <a:avLst/>
              <a:gdLst/>
              <a:ahLst/>
              <a:cxnLst/>
              <a:rect l="l" t="t" r="r" b="b"/>
              <a:pathLst>
                <a:path w="739139" h="507364">
                  <a:moveTo>
                    <a:pt x="0" y="0"/>
                  </a:moveTo>
                  <a:lnTo>
                    <a:pt x="0" y="507098"/>
                  </a:lnTo>
                  <a:lnTo>
                    <a:pt x="738736" y="507098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4276948" y="2975812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5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575364" y="2368546"/>
              <a:ext cx="169545" cy="502920"/>
            </a:xfrm>
            <a:custGeom>
              <a:avLst/>
              <a:gdLst/>
              <a:ahLst/>
              <a:cxnLst/>
              <a:rect l="l" t="t" r="r" b="b"/>
              <a:pathLst>
                <a:path w="169545" h="502919">
                  <a:moveTo>
                    <a:pt x="0" y="502924"/>
                  </a:moveTo>
                  <a:lnTo>
                    <a:pt x="0" y="0"/>
                  </a:lnTo>
                  <a:lnTo>
                    <a:pt x="169032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4739180" y="2348721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38606" y="19824"/>
                  </a:moveTo>
                  <a:lnTo>
                    <a:pt x="0" y="0"/>
                  </a:lnTo>
                  <a:lnTo>
                    <a:pt x="0" y="38606"/>
                  </a:lnTo>
                  <a:lnTo>
                    <a:pt x="38606" y="19824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4869607" y="2484365"/>
              <a:ext cx="246379" cy="510540"/>
            </a:xfrm>
            <a:custGeom>
              <a:avLst/>
              <a:gdLst/>
              <a:ahLst/>
              <a:cxnLst/>
              <a:rect l="l" t="t" r="r" b="b"/>
              <a:pathLst>
                <a:path w="246379" h="510539">
                  <a:moveTo>
                    <a:pt x="246245" y="0"/>
                  </a:moveTo>
                  <a:lnTo>
                    <a:pt x="246245" y="510228"/>
                  </a:lnTo>
                  <a:lnTo>
                    <a:pt x="0" y="510228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4836218" y="2975813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5" h="38100">
                  <a:moveTo>
                    <a:pt x="38606" y="37562"/>
                  </a:moveTo>
                  <a:lnTo>
                    <a:pt x="38606" y="0"/>
                  </a:lnTo>
                  <a:lnTo>
                    <a:pt x="0" y="18781"/>
                  </a:lnTo>
                  <a:lnTo>
                    <a:pt x="38606" y="37562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5032379" y="2852689"/>
              <a:ext cx="168275" cy="52705"/>
            </a:xfrm>
            <a:custGeom>
              <a:avLst/>
              <a:gdLst/>
              <a:ahLst/>
              <a:cxnLst/>
              <a:rect l="l" t="t" r="r" b="b"/>
              <a:pathLst>
                <a:path w="168275" h="52705">
                  <a:moveTo>
                    <a:pt x="167989" y="52170"/>
                  </a:moveTo>
                  <a:lnTo>
                    <a:pt x="167989" y="0"/>
                  </a:lnTo>
                  <a:lnTo>
                    <a:pt x="0" y="0"/>
                  </a:lnTo>
                  <a:lnTo>
                    <a:pt x="0" y="52170"/>
                  </a:lnTo>
                  <a:lnTo>
                    <a:pt x="167989" y="521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1" name="object 191"/>
          <p:cNvSpPr txBox="1"/>
          <p:nvPr/>
        </p:nvSpPr>
        <p:spPr>
          <a:xfrm>
            <a:off x="5019677" y="2835820"/>
            <a:ext cx="19367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Feedback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92" name="object 192"/>
          <p:cNvGrpSpPr/>
          <p:nvPr/>
        </p:nvGrpSpPr>
        <p:grpSpPr>
          <a:xfrm>
            <a:off x="5452104" y="2365689"/>
            <a:ext cx="386080" cy="647700"/>
            <a:chOff x="5452104" y="2365689"/>
            <a:chExt cx="386080" cy="647700"/>
          </a:xfrm>
        </p:grpSpPr>
        <p:sp>
          <p:nvSpPr>
            <p:cNvPr id="193" name="object 193"/>
            <p:cNvSpPr/>
            <p:nvPr/>
          </p:nvSpPr>
          <p:spPr>
            <a:xfrm>
              <a:off x="5454961" y="2368546"/>
              <a:ext cx="349885" cy="626110"/>
            </a:xfrm>
            <a:custGeom>
              <a:avLst/>
              <a:gdLst/>
              <a:ahLst/>
              <a:cxnLst/>
              <a:rect l="l" t="t" r="r" b="b"/>
              <a:pathLst>
                <a:path w="349885" h="626110">
                  <a:moveTo>
                    <a:pt x="0" y="0"/>
                  </a:moveTo>
                  <a:lnTo>
                    <a:pt x="114775" y="0"/>
                  </a:lnTo>
                  <a:lnTo>
                    <a:pt x="114775" y="626047"/>
                  </a:lnTo>
                  <a:lnTo>
                    <a:pt x="349543" y="626047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5799287" y="2975812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5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/>
          <p:nvPr/>
        </p:nvSpPr>
        <p:spPr>
          <a:xfrm>
            <a:off x="5471475" y="2714784"/>
            <a:ext cx="19875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Approved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6355699" y="2352895"/>
            <a:ext cx="1389380" cy="668020"/>
            <a:chOff x="6355699" y="2352895"/>
            <a:chExt cx="1389380" cy="668020"/>
          </a:xfrm>
        </p:grpSpPr>
        <p:sp>
          <p:nvSpPr>
            <p:cNvPr id="197" name="object 197"/>
            <p:cNvSpPr/>
            <p:nvPr/>
          </p:nvSpPr>
          <p:spPr>
            <a:xfrm>
              <a:off x="6358557" y="2994594"/>
              <a:ext cx="144145" cy="0"/>
            </a:xfrm>
            <a:custGeom>
              <a:avLst/>
              <a:gdLst/>
              <a:ahLst/>
              <a:cxnLst/>
              <a:rect l="l" t="t" r="r" b="b"/>
              <a:pathLst>
                <a:path w="144145">
                  <a:moveTo>
                    <a:pt x="0" y="0"/>
                  </a:moveTo>
                  <a:lnTo>
                    <a:pt x="143990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6497330" y="2975812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4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6795747" y="2371676"/>
              <a:ext cx="652145" cy="507365"/>
            </a:xfrm>
            <a:custGeom>
              <a:avLst/>
              <a:gdLst/>
              <a:ahLst/>
              <a:cxnLst/>
              <a:rect l="l" t="t" r="r" b="b"/>
              <a:pathLst>
                <a:path w="652145" h="507364">
                  <a:moveTo>
                    <a:pt x="0" y="507098"/>
                  </a:moveTo>
                  <a:lnTo>
                    <a:pt x="0" y="0"/>
                  </a:lnTo>
                  <a:lnTo>
                    <a:pt x="652132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443706" y="2352895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7562" y="18781"/>
                  </a:moveTo>
                  <a:lnTo>
                    <a:pt x="0" y="0"/>
                  </a:lnTo>
                  <a:lnTo>
                    <a:pt x="0" y="38606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089989" y="2487495"/>
              <a:ext cx="652145" cy="507365"/>
            </a:xfrm>
            <a:custGeom>
              <a:avLst/>
              <a:gdLst/>
              <a:ahLst/>
              <a:cxnLst/>
              <a:rect l="l" t="t" r="r" b="b"/>
              <a:pathLst>
                <a:path w="652145" h="507364">
                  <a:moveTo>
                    <a:pt x="652132" y="0"/>
                  </a:moveTo>
                  <a:lnTo>
                    <a:pt x="652132" y="507098"/>
                  </a:lnTo>
                  <a:lnTo>
                    <a:pt x="0" y="507098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7056600" y="297581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7562" y="37562"/>
                  </a:moveTo>
                  <a:lnTo>
                    <a:pt x="37562" y="0"/>
                  </a:lnTo>
                  <a:lnTo>
                    <a:pt x="0" y="18781"/>
                  </a:lnTo>
                  <a:lnTo>
                    <a:pt x="37562" y="37562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568915" y="2968508"/>
              <a:ext cx="168275" cy="52705"/>
            </a:xfrm>
            <a:custGeom>
              <a:avLst/>
              <a:gdLst/>
              <a:ahLst/>
              <a:cxnLst/>
              <a:rect l="l" t="t" r="r" b="b"/>
              <a:pathLst>
                <a:path w="168275" h="52705">
                  <a:moveTo>
                    <a:pt x="167989" y="52170"/>
                  </a:moveTo>
                  <a:lnTo>
                    <a:pt x="167989" y="0"/>
                  </a:lnTo>
                  <a:lnTo>
                    <a:pt x="0" y="0"/>
                  </a:lnTo>
                  <a:lnTo>
                    <a:pt x="0" y="52170"/>
                  </a:lnTo>
                  <a:lnTo>
                    <a:pt x="167989" y="521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4" name="object 204"/>
          <p:cNvSpPr txBox="1"/>
          <p:nvPr/>
        </p:nvSpPr>
        <p:spPr>
          <a:xfrm>
            <a:off x="7556213" y="2951638"/>
            <a:ext cx="19367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Feedback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05" name="object 205"/>
          <p:cNvGrpSpPr/>
          <p:nvPr/>
        </p:nvGrpSpPr>
        <p:grpSpPr>
          <a:xfrm>
            <a:off x="8000117" y="2368819"/>
            <a:ext cx="442595" cy="645160"/>
            <a:chOff x="8000117" y="2368819"/>
            <a:chExt cx="442595" cy="645160"/>
          </a:xfrm>
        </p:grpSpPr>
        <p:sp>
          <p:nvSpPr>
            <p:cNvPr id="206" name="object 206"/>
            <p:cNvSpPr/>
            <p:nvPr/>
          </p:nvSpPr>
          <p:spPr>
            <a:xfrm>
              <a:off x="8002975" y="2371677"/>
              <a:ext cx="406400" cy="622935"/>
            </a:xfrm>
            <a:custGeom>
              <a:avLst/>
              <a:gdLst/>
              <a:ahLst/>
              <a:cxnLst/>
              <a:rect l="l" t="t" r="r" b="b"/>
              <a:pathLst>
                <a:path w="406400" h="622935">
                  <a:moveTo>
                    <a:pt x="0" y="0"/>
                  </a:moveTo>
                  <a:lnTo>
                    <a:pt x="114775" y="0"/>
                  </a:lnTo>
                  <a:lnTo>
                    <a:pt x="114775" y="622917"/>
                  </a:lnTo>
                  <a:lnTo>
                    <a:pt x="405887" y="622917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8403646" y="2975813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4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8" name="object 208"/>
          <p:cNvSpPr txBox="1"/>
          <p:nvPr/>
        </p:nvSpPr>
        <p:spPr>
          <a:xfrm>
            <a:off x="8019489" y="2745042"/>
            <a:ext cx="198120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Reviewed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09" name="object 209"/>
          <p:cNvGrpSpPr/>
          <p:nvPr/>
        </p:nvGrpSpPr>
        <p:grpSpPr>
          <a:xfrm>
            <a:off x="8681194" y="2975813"/>
            <a:ext cx="758825" cy="276860"/>
            <a:chOff x="8681194" y="2975813"/>
            <a:chExt cx="758825" cy="276860"/>
          </a:xfrm>
        </p:grpSpPr>
        <p:sp>
          <p:nvSpPr>
            <p:cNvPr id="210" name="object 210"/>
            <p:cNvSpPr/>
            <p:nvPr/>
          </p:nvSpPr>
          <p:spPr>
            <a:xfrm>
              <a:off x="8958742" y="2994594"/>
              <a:ext cx="186055" cy="0"/>
            </a:xfrm>
            <a:custGeom>
              <a:avLst/>
              <a:gdLst/>
              <a:ahLst/>
              <a:cxnLst/>
              <a:rect l="l" t="t" r="r" b="b"/>
              <a:pathLst>
                <a:path w="186054">
                  <a:moveTo>
                    <a:pt x="0" y="0"/>
                  </a:moveTo>
                  <a:lnTo>
                    <a:pt x="185727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9139252" y="2975813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4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8699975" y="3110413"/>
              <a:ext cx="737235" cy="116205"/>
            </a:xfrm>
            <a:custGeom>
              <a:avLst/>
              <a:gdLst/>
              <a:ahLst/>
              <a:cxnLst/>
              <a:rect l="l" t="t" r="r" b="b"/>
              <a:pathLst>
                <a:path w="737234" h="116205">
                  <a:moveTo>
                    <a:pt x="736649" y="0"/>
                  </a:moveTo>
                  <a:lnTo>
                    <a:pt x="736649" y="115818"/>
                  </a:lnTo>
                  <a:lnTo>
                    <a:pt x="0" y="115818"/>
                  </a:lnTo>
                  <a:lnTo>
                    <a:pt x="0" y="33389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8681194" y="3110413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4" h="38735">
                  <a:moveTo>
                    <a:pt x="38606" y="38606"/>
                  </a:moveTo>
                  <a:lnTo>
                    <a:pt x="18781" y="0"/>
                  </a:lnTo>
                  <a:lnTo>
                    <a:pt x="0" y="38606"/>
                  </a:lnTo>
                  <a:lnTo>
                    <a:pt x="38606" y="38606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8983783" y="3200146"/>
              <a:ext cx="168275" cy="52705"/>
            </a:xfrm>
            <a:custGeom>
              <a:avLst/>
              <a:gdLst/>
              <a:ahLst/>
              <a:cxnLst/>
              <a:rect l="l" t="t" r="r" b="b"/>
              <a:pathLst>
                <a:path w="168275" h="52704">
                  <a:moveTo>
                    <a:pt x="167989" y="52170"/>
                  </a:moveTo>
                  <a:lnTo>
                    <a:pt x="167989" y="0"/>
                  </a:lnTo>
                  <a:lnTo>
                    <a:pt x="0" y="0"/>
                  </a:lnTo>
                  <a:lnTo>
                    <a:pt x="0" y="52170"/>
                  </a:lnTo>
                  <a:lnTo>
                    <a:pt x="167989" y="521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5" name="object 215"/>
          <p:cNvSpPr txBox="1"/>
          <p:nvPr/>
        </p:nvSpPr>
        <p:spPr>
          <a:xfrm>
            <a:off x="8972125" y="3183275"/>
            <a:ext cx="19367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Feedback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9691490" y="2975813"/>
            <a:ext cx="358775" cy="38100"/>
            <a:chOff x="9691490" y="2975813"/>
            <a:chExt cx="358775" cy="38100"/>
          </a:xfrm>
        </p:grpSpPr>
        <p:sp>
          <p:nvSpPr>
            <p:cNvPr id="217" name="object 217"/>
            <p:cNvSpPr/>
            <p:nvPr/>
          </p:nvSpPr>
          <p:spPr>
            <a:xfrm>
              <a:off x="9694348" y="2994594"/>
              <a:ext cx="322580" cy="0"/>
            </a:xfrm>
            <a:custGeom>
              <a:avLst/>
              <a:gdLst/>
              <a:ahLst/>
              <a:cxnLst/>
              <a:rect l="l" t="t" r="r" b="b"/>
              <a:pathLst>
                <a:path w="322579">
                  <a:moveTo>
                    <a:pt x="0" y="0"/>
                  </a:moveTo>
                  <a:lnTo>
                    <a:pt x="91819" y="0"/>
                  </a:lnTo>
                </a:path>
                <a:path w="322579">
                  <a:moveTo>
                    <a:pt x="263982" y="0"/>
                  </a:moveTo>
                  <a:lnTo>
                    <a:pt x="322414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0012588" y="297581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7562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219"/>
          <p:cNvSpPr txBox="1"/>
          <p:nvPr/>
        </p:nvSpPr>
        <p:spPr>
          <a:xfrm>
            <a:off x="9774509" y="2951638"/>
            <a:ext cx="198120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Reviewed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20" name="object 220"/>
          <p:cNvGrpSpPr/>
          <p:nvPr/>
        </p:nvGrpSpPr>
        <p:grpSpPr>
          <a:xfrm>
            <a:off x="10292222" y="2975813"/>
            <a:ext cx="791845" cy="276860"/>
            <a:chOff x="10292222" y="2975813"/>
            <a:chExt cx="791845" cy="276860"/>
          </a:xfrm>
        </p:grpSpPr>
        <p:sp>
          <p:nvSpPr>
            <p:cNvPr id="221" name="object 221"/>
            <p:cNvSpPr/>
            <p:nvPr/>
          </p:nvSpPr>
          <p:spPr>
            <a:xfrm>
              <a:off x="10571857" y="2994594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4">
                  <a:moveTo>
                    <a:pt x="0" y="0"/>
                  </a:moveTo>
                  <a:lnTo>
                    <a:pt x="215986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10782626" y="2975813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4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10311004" y="3110413"/>
              <a:ext cx="770255" cy="116205"/>
            </a:xfrm>
            <a:custGeom>
              <a:avLst/>
              <a:gdLst/>
              <a:ahLst/>
              <a:cxnLst/>
              <a:rect l="l" t="t" r="r" b="b"/>
              <a:pathLst>
                <a:path w="770254" h="116205">
                  <a:moveTo>
                    <a:pt x="770038" y="0"/>
                  </a:moveTo>
                  <a:lnTo>
                    <a:pt x="770038" y="115818"/>
                  </a:lnTo>
                  <a:lnTo>
                    <a:pt x="0" y="115818"/>
                  </a:lnTo>
                  <a:lnTo>
                    <a:pt x="0" y="33389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10292222" y="3110413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7562" y="38606"/>
                  </a:moveTo>
                  <a:lnTo>
                    <a:pt x="18781" y="0"/>
                  </a:lnTo>
                  <a:lnTo>
                    <a:pt x="0" y="38606"/>
                  </a:lnTo>
                  <a:lnTo>
                    <a:pt x="37562" y="38606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10612550" y="3200146"/>
              <a:ext cx="168275" cy="52705"/>
            </a:xfrm>
            <a:custGeom>
              <a:avLst/>
              <a:gdLst/>
              <a:ahLst/>
              <a:cxnLst/>
              <a:rect l="l" t="t" r="r" b="b"/>
              <a:pathLst>
                <a:path w="168275" h="52704">
                  <a:moveTo>
                    <a:pt x="167989" y="52170"/>
                  </a:moveTo>
                  <a:lnTo>
                    <a:pt x="167989" y="0"/>
                  </a:lnTo>
                  <a:lnTo>
                    <a:pt x="0" y="0"/>
                  </a:lnTo>
                  <a:lnTo>
                    <a:pt x="0" y="52170"/>
                  </a:lnTo>
                  <a:lnTo>
                    <a:pt x="167989" y="521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6" name="object 226"/>
          <p:cNvSpPr txBox="1"/>
          <p:nvPr/>
        </p:nvSpPr>
        <p:spPr>
          <a:xfrm>
            <a:off x="10599847" y="3183275"/>
            <a:ext cx="19367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Feedback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27" name="object 227"/>
          <p:cNvGrpSpPr/>
          <p:nvPr/>
        </p:nvGrpSpPr>
        <p:grpSpPr>
          <a:xfrm>
            <a:off x="11339038" y="2975813"/>
            <a:ext cx="402590" cy="38100"/>
            <a:chOff x="11339038" y="2975813"/>
            <a:chExt cx="402590" cy="38100"/>
          </a:xfrm>
        </p:grpSpPr>
        <p:sp>
          <p:nvSpPr>
            <p:cNvPr id="228" name="object 228"/>
            <p:cNvSpPr/>
            <p:nvPr/>
          </p:nvSpPr>
          <p:spPr>
            <a:xfrm>
              <a:off x="11341896" y="2994594"/>
              <a:ext cx="366395" cy="0"/>
            </a:xfrm>
            <a:custGeom>
              <a:avLst/>
              <a:gdLst/>
              <a:ahLst/>
              <a:cxnLst/>
              <a:rect l="l" t="t" r="r" b="b"/>
              <a:pathLst>
                <a:path w="366395">
                  <a:moveTo>
                    <a:pt x="0" y="0"/>
                  </a:moveTo>
                  <a:lnTo>
                    <a:pt x="113731" y="0"/>
                  </a:lnTo>
                </a:path>
                <a:path w="366395">
                  <a:moveTo>
                    <a:pt x="286938" y="0"/>
                  </a:moveTo>
                  <a:lnTo>
                    <a:pt x="366237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11703960" y="297581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7562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0" name="object 230"/>
          <p:cNvSpPr txBox="1"/>
          <p:nvPr/>
        </p:nvSpPr>
        <p:spPr>
          <a:xfrm>
            <a:off x="11442926" y="2951638"/>
            <a:ext cx="19875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Approved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31" name="object 231"/>
          <p:cNvGrpSpPr/>
          <p:nvPr/>
        </p:nvGrpSpPr>
        <p:grpSpPr>
          <a:xfrm>
            <a:off x="11999518" y="2354982"/>
            <a:ext cx="856615" cy="666115"/>
            <a:chOff x="11999518" y="2354982"/>
            <a:chExt cx="856615" cy="666115"/>
          </a:xfrm>
        </p:grpSpPr>
        <p:sp>
          <p:nvSpPr>
            <p:cNvPr id="232" name="object 232"/>
            <p:cNvSpPr/>
            <p:nvPr/>
          </p:nvSpPr>
          <p:spPr>
            <a:xfrm>
              <a:off x="12002376" y="2373763"/>
              <a:ext cx="479425" cy="505459"/>
            </a:xfrm>
            <a:custGeom>
              <a:avLst/>
              <a:gdLst/>
              <a:ahLst/>
              <a:cxnLst/>
              <a:rect l="l" t="t" r="r" b="b"/>
              <a:pathLst>
                <a:path w="479425" h="505460">
                  <a:moveTo>
                    <a:pt x="0" y="505011"/>
                  </a:moveTo>
                  <a:lnTo>
                    <a:pt x="0" y="0"/>
                  </a:lnTo>
                  <a:lnTo>
                    <a:pt x="478926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12476085" y="2354982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4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12296618" y="2489582"/>
              <a:ext cx="478155" cy="505459"/>
            </a:xfrm>
            <a:custGeom>
              <a:avLst/>
              <a:gdLst/>
              <a:ahLst/>
              <a:cxnLst/>
              <a:rect l="l" t="t" r="r" b="b"/>
              <a:pathLst>
                <a:path w="478154" h="505460">
                  <a:moveTo>
                    <a:pt x="477883" y="0"/>
                  </a:moveTo>
                  <a:lnTo>
                    <a:pt x="477883" y="505011"/>
                  </a:lnTo>
                  <a:lnTo>
                    <a:pt x="0" y="505011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12263229" y="297581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37562" y="37562"/>
                  </a:moveTo>
                  <a:lnTo>
                    <a:pt x="37562" y="0"/>
                  </a:lnTo>
                  <a:lnTo>
                    <a:pt x="0" y="18781"/>
                  </a:lnTo>
                  <a:lnTo>
                    <a:pt x="37562" y="37562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12687898" y="2968508"/>
              <a:ext cx="168275" cy="52705"/>
            </a:xfrm>
            <a:custGeom>
              <a:avLst/>
              <a:gdLst/>
              <a:ahLst/>
              <a:cxnLst/>
              <a:rect l="l" t="t" r="r" b="b"/>
              <a:pathLst>
                <a:path w="168275" h="52705">
                  <a:moveTo>
                    <a:pt x="167989" y="52170"/>
                  </a:moveTo>
                  <a:lnTo>
                    <a:pt x="167989" y="0"/>
                  </a:lnTo>
                  <a:lnTo>
                    <a:pt x="0" y="0"/>
                  </a:lnTo>
                  <a:lnTo>
                    <a:pt x="0" y="52170"/>
                  </a:lnTo>
                  <a:lnTo>
                    <a:pt x="167989" y="521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7" name="object 237"/>
          <p:cNvSpPr txBox="1"/>
          <p:nvPr/>
        </p:nvSpPr>
        <p:spPr>
          <a:xfrm>
            <a:off x="12675196" y="2951638"/>
            <a:ext cx="19367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Feedback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13889276" y="2198470"/>
            <a:ext cx="1237615" cy="309245"/>
            <a:chOff x="13889276" y="2198470"/>
            <a:chExt cx="1237615" cy="309245"/>
          </a:xfrm>
        </p:grpSpPr>
        <p:pic>
          <p:nvPicPr>
            <p:cNvPr id="239" name="object 2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89276" y="2198470"/>
              <a:ext cx="264618" cy="308850"/>
            </a:xfrm>
            <a:prstGeom prst="rect">
              <a:avLst/>
            </a:prstGeom>
          </p:spPr>
        </p:pic>
        <p:sp>
          <p:nvSpPr>
            <p:cNvPr id="240" name="object 240"/>
            <p:cNvSpPr/>
            <p:nvPr/>
          </p:nvSpPr>
          <p:spPr>
            <a:xfrm>
              <a:off x="14674557" y="2218295"/>
              <a:ext cx="418465" cy="153670"/>
            </a:xfrm>
            <a:custGeom>
              <a:avLst/>
              <a:gdLst/>
              <a:ahLst/>
              <a:cxnLst/>
              <a:rect l="l" t="t" r="r" b="b"/>
              <a:pathLst>
                <a:path w="418465" h="153669">
                  <a:moveTo>
                    <a:pt x="0" y="0"/>
                  </a:moveTo>
                  <a:lnTo>
                    <a:pt x="115818" y="0"/>
                  </a:lnTo>
                  <a:lnTo>
                    <a:pt x="115818" y="153381"/>
                  </a:lnTo>
                  <a:lnTo>
                    <a:pt x="418408" y="153381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15088792" y="2352895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7562" y="18781"/>
                  </a:moveTo>
                  <a:lnTo>
                    <a:pt x="0" y="0"/>
                  </a:lnTo>
                  <a:lnTo>
                    <a:pt x="0" y="38606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14674557" y="2371676"/>
              <a:ext cx="418465" cy="116205"/>
            </a:xfrm>
            <a:custGeom>
              <a:avLst/>
              <a:gdLst/>
              <a:ahLst/>
              <a:cxnLst/>
              <a:rect l="l" t="t" r="r" b="b"/>
              <a:pathLst>
                <a:path w="418465" h="116205">
                  <a:moveTo>
                    <a:pt x="0" y="115818"/>
                  </a:moveTo>
                  <a:lnTo>
                    <a:pt x="115818" y="115818"/>
                  </a:lnTo>
                  <a:lnTo>
                    <a:pt x="115818" y="0"/>
                  </a:lnTo>
                  <a:lnTo>
                    <a:pt x="418408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15088792" y="2352895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5">
                  <a:moveTo>
                    <a:pt x="37562" y="18781"/>
                  </a:moveTo>
                  <a:lnTo>
                    <a:pt x="0" y="0"/>
                  </a:lnTo>
                  <a:lnTo>
                    <a:pt x="0" y="38606"/>
                  </a:lnTo>
                  <a:lnTo>
                    <a:pt x="37562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14756986" y="2345591"/>
              <a:ext cx="172720" cy="52705"/>
            </a:xfrm>
            <a:custGeom>
              <a:avLst/>
              <a:gdLst/>
              <a:ahLst/>
              <a:cxnLst/>
              <a:rect l="l" t="t" r="r" b="b"/>
              <a:pathLst>
                <a:path w="172719" h="52705">
                  <a:moveTo>
                    <a:pt x="172163" y="52170"/>
                  </a:moveTo>
                  <a:lnTo>
                    <a:pt x="172163" y="0"/>
                  </a:lnTo>
                  <a:lnTo>
                    <a:pt x="0" y="0"/>
                  </a:lnTo>
                  <a:lnTo>
                    <a:pt x="0" y="52170"/>
                  </a:lnTo>
                  <a:lnTo>
                    <a:pt x="172163" y="521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5" name="object 245"/>
          <p:cNvSpPr txBox="1"/>
          <p:nvPr/>
        </p:nvSpPr>
        <p:spPr>
          <a:xfrm>
            <a:off x="14744284" y="2328721"/>
            <a:ext cx="19875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Approved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14330229" y="2603314"/>
            <a:ext cx="168275" cy="273685"/>
            <a:chOff x="14330229" y="2603314"/>
            <a:chExt cx="168275" cy="273685"/>
          </a:xfrm>
        </p:grpSpPr>
        <p:sp>
          <p:nvSpPr>
            <p:cNvPr id="247" name="object 247"/>
            <p:cNvSpPr/>
            <p:nvPr/>
          </p:nvSpPr>
          <p:spPr>
            <a:xfrm>
              <a:off x="14414746" y="2766086"/>
              <a:ext cx="0" cy="77470"/>
            </a:xfrm>
            <a:custGeom>
              <a:avLst/>
              <a:gdLst/>
              <a:ahLst/>
              <a:cxnLst/>
              <a:rect l="l" t="t" r="r" b="b"/>
              <a:pathLst>
                <a:path h="77469">
                  <a:moveTo>
                    <a:pt x="0" y="0"/>
                  </a:moveTo>
                  <a:lnTo>
                    <a:pt x="0" y="77212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8" name="object 2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30229" y="2603314"/>
              <a:ext cx="167989" cy="273374"/>
            </a:xfrm>
            <a:prstGeom prst="rect">
              <a:avLst/>
            </a:prstGeom>
          </p:spPr>
        </p:pic>
      </p:grpSp>
      <p:sp>
        <p:nvSpPr>
          <p:cNvPr id="249" name="object 249"/>
          <p:cNvSpPr txBox="1"/>
          <p:nvPr/>
        </p:nvSpPr>
        <p:spPr>
          <a:xfrm>
            <a:off x="14318572" y="2697046"/>
            <a:ext cx="19367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Feedback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50" name="object 250"/>
          <p:cNvGrpSpPr/>
          <p:nvPr/>
        </p:nvGrpSpPr>
        <p:grpSpPr>
          <a:xfrm>
            <a:off x="1607990" y="2259079"/>
            <a:ext cx="562610" cy="233679"/>
            <a:chOff x="1607990" y="2259079"/>
            <a:chExt cx="562610" cy="233679"/>
          </a:xfrm>
        </p:grpSpPr>
        <p:sp>
          <p:nvSpPr>
            <p:cNvPr id="251" name="object 251"/>
            <p:cNvSpPr/>
            <p:nvPr/>
          </p:nvSpPr>
          <p:spPr>
            <a:xfrm>
              <a:off x="1608942" y="2260031"/>
              <a:ext cx="560705" cy="231775"/>
            </a:xfrm>
            <a:custGeom>
              <a:avLst/>
              <a:gdLst/>
              <a:ahLst/>
              <a:cxnLst/>
              <a:rect l="l" t="t" r="r" b="b"/>
              <a:pathLst>
                <a:path w="560705" h="231775">
                  <a:moveTo>
                    <a:pt x="560312" y="231637"/>
                  </a:moveTo>
                  <a:lnTo>
                    <a:pt x="560312" y="0"/>
                  </a:lnTo>
                  <a:lnTo>
                    <a:pt x="0" y="0"/>
                  </a:lnTo>
                  <a:lnTo>
                    <a:pt x="0" y="231637"/>
                  </a:lnTo>
                  <a:lnTo>
                    <a:pt x="560312" y="231637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1608942" y="2260032"/>
              <a:ext cx="560705" cy="231775"/>
            </a:xfrm>
            <a:custGeom>
              <a:avLst/>
              <a:gdLst/>
              <a:ahLst/>
              <a:cxnLst/>
              <a:rect l="l" t="t" r="r" b="b"/>
              <a:pathLst>
                <a:path w="560705" h="231775">
                  <a:moveTo>
                    <a:pt x="0" y="0"/>
                  </a:moveTo>
                  <a:lnTo>
                    <a:pt x="0" y="231637"/>
                  </a:lnTo>
                  <a:lnTo>
                    <a:pt x="560312" y="231637"/>
                  </a:lnTo>
                  <a:lnTo>
                    <a:pt x="560312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C7C7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3" name="object 253"/>
          <p:cNvSpPr txBox="1"/>
          <p:nvPr/>
        </p:nvSpPr>
        <p:spPr>
          <a:xfrm>
            <a:off x="1621303" y="2280724"/>
            <a:ext cx="536575" cy="182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DRCC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sends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1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high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protected</a:t>
            </a:r>
            <a:r>
              <a:rPr sz="35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concern</a:t>
            </a:r>
            <a:r>
              <a:rPr sz="350" spc="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to</a:t>
            </a:r>
            <a:r>
              <a:rPr sz="35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the</a:t>
            </a:r>
            <a:r>
              <a:rPr sz="350" spc="1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5" dirty="0">
                <a:solidFill>
                  <a:srgbClr val="FDFFFF"/>
                </a:solidFill>
                <a:latin typeface="Calibri"/>
                <a:cs typeface="Calibri"/>
              </a:rPr>
              <a:t>RCI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Team.</a:t>
            </a:r>
            <a:endParaRPr sz="350">
              <a:latin typeface="Calibri"/>
              <a:cs typeface="Calibri"/>
            </a:endParaRPr>
          </a:p>
        </p:txBody>
      </p:sp>
      <p:sp>
        <p:nvSpPr>
          <p:cNvPr id="254" name="object 254"/>
          <p:cNvSpPr txBox="1"/>
          <p:nvPr/>
        </p:nvSpPr>
        <p:spPr>
          <a:xfrm>
            <a:off x="1608942" y="1640244"/>
            <a:ext cx="560705" cy="231140"/>
          </a:xfrm>
          <a:prstGeom prst="rect">
            <a:avLst/>
          </a:prstGeom>
          <a:solidFill>
            <a:srgbClr val="4671C4"/>
          </a:solidFill>
          <a:ln w="3175">
            <a:solidFill>
              <a:srgbClr val="C7C7C7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350">
              <a:latin typeface="Times New Roman"/>
              <a:cs typeface="Times New Roman"/>
            </a:endParaRPr>
          </a:p>
          <a:p>
            <a:pPr marL="109220" marR="67310" indent="-34925">
              <a:lnSpc>
                <a:spcPct val="100000"/>
              </a:lnSpc>
            </a:pP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RCI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Team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picks</a:t>
            </a:r>
            <a:r>
              <a:rPr sz="350" spc="-5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up</a:t>
            </a:r>
            <a:r>
              <a:rPr sz="35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20" dirty="0">
                <a:solidFill>
                  <a:srgbClr val="FDFFFF"/>
                </a:solidFill>
                <a:latin typeface="Calibri"/>
                <a:cs typeface="Calibri"/>
              </a:rPr>
              <a:t>High</a:t>
            </a:r>
            <a:r>
              <a:rPr sz="350" spc="50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Protected</a:t>
            </a:r>
            <a:r>
              <a:rPr sz="350" spc="20" dirty="0">
                <a:solidFill>
                  <a:srgbClr val="FDFFFF"/>
                </a:solidFill>
                <a:latin typeface="Calibri"/>
                <a:cs typeface="Calibri"/>
              </a:rPr>
              <a:t> </a:t>
            </a:r>
            <a:r>
              <a:rPr sz="350" spc="-10" dirty="0">
                <a:solidFill>
                  <a:srgbClr val="FDFFFF"/>
                </a:solidFill>
                <a:latin typeface="Calibri"/>
                <a:cs typeface="Calibri"/>
              </a:rPr>
              <a:t>Concern.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55" name="object 255"/>
          <p:cNvGrpSpPr/>
          <p:nvPr/>
        </p:nvGrpSpPr>
        <p:grpSpPr>
          <a:xfrm>
            <a:off x="1869795" y="1870839"/>
            <a:ext cx="11501755" cy="970280"/>
            <a:chOff x="1869795" y="1870839"/>
            <a:chExt cx="11501755" cy="970280"/>
          </a:xfrm>
        </p:grpSpPr>
        <p:sp>
          <p:nvSpPr>
            <p:cNvPr id="256" name="object 256"/>
            <p:cNvSpPr/>
            <p:nvPr/>
          </p:nvSpPr>
          <p:spPr>
            <a:xfrm>
              <a:off x="1888577" y="2525058"/>
              <a:ext cx="0" cy="313055"/>
            </a:xfrm>
            <a:custGeom>
              <a:avLst/>
              <a:gdLst/>
              <a:ahLst/>
              <a:cxnLst/>
              <a:rect l="l" t="t" r="r" b="b"/>
              <a:pathLst>
                <a:path h="313055">
                  <a:moveTo>
                    <a:pt x="0" y="313023"/>
                  </a:moveTo>
                  <a:lnTo>
                    <a:pt x="0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1869795" y="2491669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38606" y="38606"/>
                  </a:moveTo>
                  <a:lnTo>
                    <a:pt x="18781" y="0"/>
                  </a:lnTo>
                  <a:lnTo>
                    <a:pt x="0" y="38606"/>
                  </a:lnTo>
                  <a:lnTo>
                    <a:pt x="38606" y="38606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1888577" y="1905271"/>
              <a:ext cx="0" cy="354965"/>
            </a:xfrm>
            <a:custGeom>
              <a:avLst/>
              <a:gdLst/>
              <a:ahLst/>
              <a:cxnLst/>
              <a:rect l="l" t="t" r="r" b="b"/>
              <a:pathLst>
                <a:path h="354964">
                  <a:moveTo>
                    <a:pt x="0" y="354760"/>
                  </a:moveTo>
                  <a:lnTo>
                    <a:pt x="0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1869795" y="1870839"/>
              <a:ext cx="38735" cy="38735"/>
            </a:xfrm>
            <a:custGeom>
              <a:avLst/>
              <a:gdLst/>
              <a:ahLst/>
              <a:cxnLst/>
              <a:rect l="l" t="t" r="r" b="b"/>
              <a:pathLst>
                <a:path w="38735" h="38735">
                  <a:moveTo>
                    <a:pt x="38606" y="38606"/>
                  </a:moveTo>
                  <a:lnTo>
                    <a:pt x="18781" y="0"/>
                  </a:lnTo>
                  <a:lnTo>
                    <a:pt x="0" y="38606"/>
                  </a:lnTo>
                  <a:lnTo>
                    <a:pt x="38606" y="38606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13035355" y="2373763"/>
              <a:ext cx="302895" cy="0"/>
            </a:xfrm>
            <a:custGeom>
              <a:avLst/>
              <a:gdLst/>
              <a:ahLst/>
              <a:cxnLst/>
              <a:rect l="l" t="t" r="r" b="b"/>
              <a:pathLst>
                <a:path w="302894">
                  <a:moveTo>
                    <a:pt x="0" y="0"/>
                  </a:moveTo>
                  <a:lnTo>
                    <a:pt x="81385" y="0"/>
                  </a:lnTo>
                </a:path>
                <a:path w="302894">
                  <a:moveTo>
                    <a:pt x="254592" y="0"/>
                  </a:moveTo>
                  <a:lnTo>
                    <a:pt x="302589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13332727" y="2354982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4" h="38100">
                  <a:moveTo>
                    <a:pt x="38606" y="18781"/>
                  </a:moveTo>
                  <a:lnTo>
                    <a:pt x="0" y="0"/>
                  </a:lnTo>
                  <a:lnTo>
                    <a:pt x="0" y="37562"/>
                  </a:lnTo>
                  <a:lnTo>
                    <a:pt x="38606" y="18781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2" name="object 262"/>
          <p:cNvSpPr txBox="1"/>
          <p:nvPr/>
        </p:nvSpPr>
        <p:spPr>
          <a:xfrm>
            <a:off x="13105083" y="2330808"/>
            <a:ext cx="198755" cy="78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" spc="-10" dirty="0">
                <a:solidFill>
                  <a:srgbClr val="3C63AC"/>
                </a:solidFill>
                <a:latin typeface="Calibri"/>
                <a:cs typeface="Calibri"/>
              </a:rPr>
              <a:t>Approved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263" name="object 263"/>
          <p:cNvGrpSpPr/>
          <p:nvPr/>
        </p:nvGrpSpPr>
        <p:grpSpPr>
          <a:xfrm>
            <a:off x="13612362" y="2489582"/>
            <a:ext cx="544830" cy="506095"/>
            <a:chOff x="13612362" y="2489582"/>
            <a:chExt cx="544830" cy="506095"/>
          </a:xfrm>
        </p:grpSpPr>
        <p:sp>
          <p:nvSpPr>
            <p:cNvPr id="264" name="object 264"/>
            <p:cNvSpPr/>
            <p:nvPr/>
          </p:nvSpPr>
          <p:spPr>
            <a:xfrm>
              <a:off x="13632187" y="2522972"/>
              <a:ext cx="521970" cy="469900"/>
            </a:xfrm>
            <a:custGeom>
              <a:avLst/>
              <a:gdLst/>
              <a:ahLst/>
              <a:cxnLst/>
              <a:rect l="l" t="t" r="r" b="b"/>
              <a:pathLst>
                <a:path w="521969" h="469900">
                  <a:moveTo>
                    <a:pt x="521706" y="469535"/>
                  </a:moveTo>
                  <a:lnTo>
                    <a:pt x="0" y="469535"/>
                  </a:lnTo>
                  <a:lnTo>
                    <a:pt x="0" y="0"/>
                  </a:lnTo>
                </a:path>
              </a:pathLst>
            </a:custGeom>
            <a:ln w="5443">
              <a:solidFill>
                <a:srgbClr val="46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13612362" y="2489582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4" h="38100">
                  <a:moveTo>
                    <a:pt x="38606" y="37562"/>
                  </a:moveTo>
                  <a:lnTo>
                    <a:pt x="19824" y="0"/>
                  </a:lnTo>
                  <a:lnTo>
                    <a:pt x="0" y="37562"/>
                  </a:lnTo>
                  <a:lnTo>
                    <a:pt x="38606" y="37562"/>
                  </a:lnTo>
                  <a:close/>
                </a:path>
              </a:pathLst>
            </a:custGeom>
            <a:solidFill>
              <a:srgbClr val="46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6" name="object 266"/>
          <p:cNvSpPr txBox="1"/>
          <p:nvPr/>
        </p:nvSpPr>
        <p:spPr>
          <a:xfrm>
            <a:off x="188855" y="5280536"/>
            <a:ext cx="683895" cy="1841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Head</a:t>
            </a:r>
            <a:r>
              <a:rPr sz="500" b="1" u="sng" spc="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of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Oil</a:t>
            </a:r>
            <a:r>
              <a:rPr sz="500" b="1" u="sng" spc="1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Assets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spc="-1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(HOA)</a:t>
            </a:r>
            <a:endParaRPr sz="50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Colin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Glasenberg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188855" y="5516342"/>
            <a:ext cx="1161415" cy="8140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Asset</a:t>
            </a:r>
            <a:r>
              <a:rPr sz="500" b="1" u="sng" spc="1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Manager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spc="-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(AM)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George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Palmer</a:t>
            </a:r>
            <a:endParaRPr sz="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4571C4"/>
              </a:buClr>
              <a:buFont typeface="Symbol"/>
              <a:buChar char=""/>
            </a:pPr>
            <a:endParaRPr sz="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Chief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Executive</a:t>
            </a:r>
            <a:r>
              <a:rPr sz="500" b="1" u="sng" spc="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Officer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spc="-1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(CEO)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97155" algn="l"/>
              </a:tabLst>
            </a:pP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Rafael Grisolia</a:t>
            </a:r>
            <a:endParaRPr sz="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4571C4"/>
              </a:buClr>
              <a:buFont typeface="Symbol"/>
              <a:buChar char=""/>
            </a:pPr>
            <a:endParaRPr sz="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Case</a:t>
            </a:r>
            <a:r>
              <a:rPr sz="500" b="1" u="sng" spc="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Owner</a:t>
            </a:r>
            <a:r>
              <a:rPr sz="500" b="1" u="sng" spc="2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spc="-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(CO)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Tim Cobley 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3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Gareth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Austin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HSEC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Stuart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Harrower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268" name="object 268"/>
          <p:cNvSpPr txBox="1"/>
          <p:nvPr/>
        </p:nvSpPr>
        <p:spPr>
          <a:xfrm>
            <a:off x="1519200" y="5280460"/>
            <a:ext cx="1407795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Raising</a:t>
            </a:r>
            <a:r>
              <a:rPr sz="500" b="1" u="sng" spc="2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Concerns</a:t>
            </a:r>
            <a:r>
              <a:rPr sz="500" b="1" u="sng" spc="2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Coordinator</a:t>
            </a:r>
            <a:r>
              <a:rPr sz="500" b="1" u="sng" spc="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spc="-1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(RCC)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Tim Cobley 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Gareth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Austin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(Deputy)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269" name="object 269"/>
          <p:cNvSpPr txBox="1"/>
          <p:nvPr/>
        </p:nvSpPr>
        <p:spPr>
          <a:xfrm>
            <a:off x="1519207" y="5595615"/>
            <a:ext cx="1629410" cy="630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Department</a:t>
            </a:r>
            <a:r>
              <a:rPr sz="500" b="1" u="sng" spc="2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Raising</a:t>
            </a:r>
            <a:r>
              <a:rPr sz="500" b="1" u="sng" spc="2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Concerns</a:t>
            </a:r>
            <a:r>
              <a:rPr sz="500" b="1" u="sng" spc="2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Committee</a:t>
            </a:r>
            <a:r>
              <a:rPr sz="500" b="1" u="sng" spc="2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spc="-1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(DRCC)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Tim Cobley </a:t>
            </a: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Senior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Business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Partner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Enas Elghrouri 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3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Gareth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Austin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0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Senior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Officer</a:t>
            </a:r>
            <a:r>
              <a:rPr sz="500" spc="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Tim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Gabelko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Senior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Officer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Gabriella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Belgrave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Head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of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HSEC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Stuart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Harrower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Oil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Assets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HSEC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Lead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Andrew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Olleveant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/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David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Newton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270" name="object 270"/>
          <p:cNvSpPr txBox="1"/>
          <p:nvPr/>
        </p:nvSpPr>
        <p:spPr>
          <a:xfrm>
            <a:off x="3486040" y="5280358"/>
            <a:ext cx="1792605" cy="182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Alesat</a:t>
            </a:r>
            <a:r>
              <a:rPr sz="500" b="1" u="sng" spc="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Local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Concerns</a:t>
            </a:r>
            <a:r>
              <a:rPr sz="500" b="1" u="sng" spc="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Administrator</a:t>
            </a:r>
            <a:r>
              <a:rPr sz="500" b="1" u="sng" spc="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(LCA)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i="1" u="none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i="1" u="none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i="1" u="none" dirty="0">
                <a:solidFill>
                  <a:srgbClr val="4571C4"/>
                </a:solidFill>
                <a:latin typeface="Calibri"/>
                <a:cs typeface="Calibri"/>
              </a:rPr>
              <a:t>also</a:t>
            </a:r>
            <a:r>
              <a:rPr sz="500" i="1" u="none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i="1" u="none" dirty="0">
                <a:solidFill>
                  <a:srgbClr val="4571C4"/>
                </a:solidFill>
                <a:latin typeface="Calibri"/>
                <a:cs typeface="Calibri"/>
              </a:rPr>
              <a:t>Lead</a:t>
            </a:r>
            <a:r>
              <a:rPr sz="500" i="1" u="none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i="1" u="none" spc="-10" dirty="0">
                <a:solidFill>
                  <a:srgbClr val="4571C4"/>
                </a:solidFill>
                <a:latin typeface="Calibri"/>
                <a:cs typeface="Calibri"/>
              </a:rPr>
              <a:t>Investigator</a:t>
            </a:r>
            <a:endParaRPr sz="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Investigations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Specialist</a:t>
            </a:r>
            <a:r>
              <a:rPr sz="500" spc="3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-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Yhago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Souza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271" name="object 271"/>
          <p:cNvSpPr txBox="1"/>
          <p:nvPr/>
        </p:nvSpPr>
        <p:spPr>
          <a:xfrm>
            <a:off x="3486040" y="5515299"/>
            <a:ext cx="1243965" cy="6565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Alesat Local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spc="-1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Investigators</a:t>
            </a:r>
            <a:endParaRPr sz="500" dirty="0">
              <a:latin typeface="Calibri"/>
              <a:cs typeface="Calibri"/>
            </a:endParaRPr>
          </a:p>
          <a:p>
            <a:pPr marR="5080">
              <a:lnSpc>
                <a:spcPct val="102699"/>
              </a:lnSpc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Investigations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Specialist</a:t>
            </a:r>
            <a:r>
              <a:rPr sz="500" spc="3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-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Yhago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Souza</a:t>
            </a:r>
            <a:r>
              <a:rPr sz="500" spc="50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 err="1">
                <a:solidFill>
                  <a:srgbClr val="4571C4"/>
                </a:solidFill>
                <a:latin typeface="Calibri"/>
                <a:cs typeface="Calibri"/>
              </a:rPr>
              <a:t>Investigat</a:t>
            </a: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or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Yuri Hassim </a:t>
            </a:r>
          </a:p>
          <a:p>
            <a:pPr marR="5080">
              <a:lnSpc>
                <a:spcPct val="102699"/>
              </a:lnSpc>
            </a:pP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Asset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Head</a:t>
            </a:r>
            <a:r>
              <a:rPr sz="500" b="1" u="sng" spc="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of</a:t>
            </a:r>
            <a:r>
              <a:rPr sz="500" b="1" u="sng" spc="15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Department</a:t>
            </a:r>
            <a:r>
              <a:rPr sz="500" b="1" u="sng" spc="2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 </a:t>
            </a:r>
            <a:r>
              <a:rPr sz="500" b="1" u="sng" spc="-10" dirty="0">
                <a:solidFill>
                  <a:srgbClr val="4571C4"/>
                </a:solidFill>
                <a:uFill>
                  <a:solidFill>
                    <a:srgbClr val="4671C4"/>
                  </a:solidFill>
                </a:uFill>
                <a:latin typeface="Calibri"/>
                <a:cs typeface="Calibri"/>
              </a:rPr>
              <a:t>(HoD)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HR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Manager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lang="en-GB" sz="500" dirty="0">
                <a:solidFill>
                  <a:srgbClr val="4571C4"/>
                </a:solidFill>
                <a:latin typeface="Calibri"/>
                <a:cs typeface="Calibri"/>
              </a:rPr>
              <a:t>Larissa Silva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Compliance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Coordinator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-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Julia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Silva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HSEC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Manager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Adriano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Brito</a:t>
            </a:r>
            <a:endParaRPr sz="500" dirty="0">
              <a:latin typeface="Calibri"/>
              <a:cs typeface="Calibri"/>
            </a:endParaRPr>
          </a:p>
          <a:p>
            <a:pPr marL="97155" indent="-97155">
              <a:lnSpc>
                <a:spcPct val="100000"/>
              </a:lnSpc>
              <a:spcBef>
                <a:spcPts val="25"/>
              </a:spcBef>
              <a:buFont typeface="Symbol"/>
              <a:buChar char=""/>
              <a:tabLst>
                <a:tab pos="97155" algn="l"/>
              </a:tabLst>
            </a:pP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Legal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Manager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-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Vinicius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20" dirty="0">
                <a:solidFill>
                  <a:srgbClr val="4571C4"/>
                </a:solidFill>
                <a:latin typeface="Calibri"/>
                <a:cs typeface="Calibri"/>
              </a:rPr>
              <a:t>Maia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272" name="object 272"/>
          <p:cNvSpPr txBox="1"/>
          <p:nvPr/>
        </p:nvSpPr>
        <p:spPr>
          <a:xfrm>
            <a:off x="3486040" y="6223695"/>
            <a:ext cx="1196975" cy="260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500" b="1" dirty="0">
                <a:solidFill>
                  <a:srgbClr val="4571C4"/>
                </a:solidFill>
                <a:latin typeface="Calibri"/>
                <a:cs typeface="Calibri"/>
              </a:rPr>
              <a:t>RCP</a:t>
            </a:r>
            <a:r>
              <a:rPr sz="500" b="1" spc="2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Global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Raising</a:t>
            </a:r>
            <a:r>
              <a:rPr sz="500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Concerns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Platform</a:t>
            </a:r>
            <a:endParaRPr sz="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500" b="1" dirty="0">
                <a:solidFill>
                  <a:srgbClr val="4571C4"/>
                </a:solidFill>
                <a:latin typeface="Calibri"/>
                <a:cs typeface="Calibri"/>
              </a:rPr>
              <a:t>RCI</a:t>
            </a:r>
            <a:r>
              <a:rPr sz="500" b="1" spc="15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2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Raising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Concerns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Investigations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(Team)</a:t>
            </a:r>
            <a:endParaRPr sz="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500" b="1" dirty="0">
                <a:solidFill>
                  <a:srgbClr val="4571C4"/>
                </a:solidFill>
                <a:latin typeface="Calibri"/>
                <a:cs typeface="Calibri"/>
              </a:rPr>
              <a:t>WB</a:t>
            </a:r>
            <a:r>
              <a:rPr sz="500" b="1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dirty="0">
                <a:solidFill>
                  <a:srgbClr val="4571C4"/>
                </a:solidFill>
                <a:latin typeface="Calibri"/>
                <a:cs typeface="Calibri"/>
              </a:rPr>
              <a:t>–</a:t>
            </a:r>
            <a:r>
              <a:rPr sz="500" spc="10" dirty="0">
                <a:solidFill>
                  <a:srgbClr val="4571C4"/>
                </a:solidFill>
                <a:latin typeface="Calibri"/>
                <a:cs typeface="Calibri"/>
              </a:rPr>
              <a:t> </a:t>
            </a:r>
            <a:r>
              <a:rPr sz="500" spc="-10" dirty="0">
                <a:solidFill>
                  <a:srgbClr val="4571C4"/>
                </a:solidFill>
                <a:latin typeface="Calibri"/>
                <a:cs typeface="Calibri"/>
              </a:rPr>
              <a:t>Whistleblower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273" name="object 273"/>
          <p:cNvSpPr/>
          <p:nvPr/>
        </p:nvSpPr>
        <p:spPr>
          <a:xfrm>
            <a:off x="160685" y="5261930"/>
            <a:ext cx="5387340" cy="1242060"/>
          </a:xfrm>
          <a:custGeom>
            <a:avLst/>
            <a:gdLst/>
            <a:ahLst/>
            <a:cxnLst/>
            <a:rect l="l" t="t" r="r" b="b"/>
            <a:pathLst>
              <a:path w="5387340" h="1242059">
                <a:moveTo>
                  <a:pt x="0" y="0"/>
                </a:moveTo>
                <a:lnTo>
                  <a:pt x="0" y="1241661"/>
                </a:lnTo>
                <a:lnTo>
                  <a:pt x="5387139" y="1241661"/>
                </a:lnTo>
                <a:lnTo>
                  <a:pt x="5387139" y="0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46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9930384" y="20299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1F6B2E"/>
                </a:solidFill>
              </a:rPr>
              <a:t>High &amp; Medium cases – CEO approves, regardless of outcome.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930384" y="225856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1F6B2E"/>
                </a:solidFill>
              </a:rPr>
              <a:t>Low cases with disciplinary measure – CEO approves.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9930384" y="2487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1">
                <a:solidFill>
                  <a:srgbClr val="BF5B00"/>
                </a:solidFill>
              </a:rPr>
              <a:t>Unsubstantiated OR substantiated with no disciplinary measure → bypasses CEO, flows directly to HOA Approval.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347704" y="27889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" b="0" i="1">
                <a:solidFill>
                  <a:srgbClr val="BF5B00"/>
                </a:solidFill>
              </a:rPr>
              <a:t>Direct bypass (see conditions above)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9930384" y="3904487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404040"/>
                </a:solidFill>
              </a:rPr>
              <a:t>CEO Approval rules:
• Approves all High and Medium severity cases, regardless of outcome.
• Approves Low severity cases where a disciplinary measure is recommended.
• Unsubstantiated cases, and substantiated cases with no disciplinary measure, flow directly to the next approver (HOA Approval) without CEO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903</Words>
  <Application>Microsoft Office PowerPoint</Application>
  <PresentationFormat>Custom</PresentationFormat>
  <Paragraphs>114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Symbol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Leighton, Sophie (London - GB)</dc:creator>
  <cp:keywords>&lt;Baar&gt; &lt;Department&gt; &lt;Asset&gt; &lt;Comments&gt;</cp:keywords>
  <cp:lastModifiedBy>Elghrouri, Enas (London - GB)</cp:lastModifiedBy>
  <cp:revision>2</cp:revision>
  <dcterms:created xsi:type="dcterms:W3CDTF">2026-06-30T11:29:12Z</dcterms:created>
  <dcterms:modified xsi:type="dcterms:W3CDTF">2026-06-30T13:39:10Z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2024-11-05T00:00:00Z</vt:filetime>
  </property>
  <property fmtid="{D5CDD505-2E9C-101B-9397-08002B2CF9AE}" pid="3" name="Creator">
    <vt:lpwstr>Acrobat PDFMaker 24 for Visio</vt:lpwstr>
  </property>
  <property fmtid="{D5CDD505-2E9C-101B-9397-08002B2CF9AE}" pid="4" name="LastSaved">
    <vt:filetime>2026-06-30T00:00:00Z</vt:filetime>
  </property>
  <property fmtid="{D5CDD505-2E9C-101B-9397-08002B2CF9AE}" pid="5" name="Producer">
    <vt:lpwstr>Acrobat Distiller 24.0 (Windows)</vt:lpwstr>
  </property>
</Properties>
</file>