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01168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0" cy="457200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12801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ALE  |  Raising Concerns Process – Protected Concerns Investigated Locally  |  Low &amp; Medium Severity Routes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075920" y="118872"/>
            <a:ext cx="192024" cy="192024"/>
          </a:xfrm>
          <a:prstGeom prst="rect">
            <a:avLst/>
          </a:prstGeom>
          <a:solidFill>
            <a:srgbClr val="D6E4F4"/>
          </a:solidFill>
          <a:ln w="6350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04520" y="82296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0">
                <a:solidFill>
                  <a:srgbClr val="FFFFFF"/>
                </a:solidFill>
              </a:rPr>
              <a:t>Shared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4721840" y="118872"/>
            <a:ext cx="192024" cy="192024"/>
          </a:xfrm>
          <a:prstGeom prst="rect">
            <a:avLst/>
          </a:prstGeom>
          <a:solidFill>
            <a:srgbClr val="CCEDE8"/>
          </a:solidFill>
          <a:ln w="6350">
            <a:solidFill>
              <a:srgbClr val="007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950440" y="82296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16367760" y="118872"/>
            <a:ext cx="192024" cy="192024"/>
          </a:xfrm>
          <a:prstGeom prst="rect">
            <a:avLst/>
          </a:prstGeom>
          <a:solidFill>
            <a:srgbClr val="FBE5CC"/>
          </a:solidFill>
          <a:ln w="6350">
            <a:solidFill>
              <a:srgbClr val="B86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596360" y="82296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13680" y="118872"/>
            <a:ext cx="192024" cy="192024"/>
          </a:xfrm>
          <a:prstGeom prst="rect">
            <a:avLst/>
          </a:prstGeom>
          <a:solidFill>
            <a:srgbClr val="C8E6CA"/>
          </a:solidFill>
          <a:ln w="63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42280" y="82296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0">
                <a:solidFill>
                  <a:srgbClr val="FFFFFF"/>
                </a:solidFill>
              </a:rPr>
              <a:t>CEO Approves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0" y="118872"/>
            <a:ext cx="192024" cy="192024"/>
          </a:xfrm>
          <a:prstGeom prst="rect">
            <a:avLst/>
          </a:prstGeom>
          <a:solidFill>
            <a:srgbClr val="FDDCC4"/>
          </a:solidFill>
          <a:ln w="6350">
            <a:solidFill>
              <a:srgbClr val="BF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888200" y="82296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80" b="0">
                <a:solidFill>
                  <a:srgbClr val="FFFFFF"/>
                </a:solidFill>
              </a:rPr>
              <a:t>CEO Bypass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457200"/>
            <a:ext cx="20116800" cy="868680"/>
          </a:xfrm>
          <a:prstGeom prst="rect">
            <a:avLst/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57200"/>
            <a:ext cx="1234440" cy="868680"/>
          </a:xfrm>
          <a:prstGeom prst="rect">
            <a:avLst/>
          </a:prstGeom>
          <a:solidFill>
            <a:srgbClr val="DA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" y="457200"/>
            <a:ext cx="116128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002D62"/>
                </a:solidFill>
              </a:rPr>
              <a:t>Concern Raiser / LCA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1318564"/>
            <a:ext cx="20116800" cy="7315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325880"/>
            <a:ext cx="20116800" cy="77724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325880"/>
            <a:ext cx="1234440" cy="777240"/>
          </a:xfrm>
          <a:prstGeom prst="rect">
            <a:avLst/>
          </a:prstGeom>
          <a:solidFill>
            <a:srgbClr val="E4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" y="1325880"/>
            <a:ext cx="116128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002D62"/>
                </a:solidFill>
              </a:rPr>
              <a:t>DRCC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2095804"/>
            <a:ext cx="20116800" cy="7315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2103120"/>
            <a:ext cx="20116800" cy="777240"/>
          </a:xfrm>
          <a:prstGeom prst="rect">
            <a:avLst/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03120"/>
            <a:ext cx="1234440" cy="777240"/>
          </a:xfrm>
          <a:prstGeom prst="rect">
            <a:avLst/>
          </a:prstGeom>
          <a:solidFill>
            <a:srgbClr val="DA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" y="2103120"/>
            <a:ext cx="1161288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002D62"/>
                </a:solidFill>
              </a:rPr>
              <a:t>Case Owner (CO)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2873044"/>
            <a:ext cx="20116800" cy="7315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2880360"/>
            <a:ext cx="20116800" cy="9601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2880360"/>
            <a:ext cx="1234440" cy="960120"/>
          </a:xfrm>
          <a:prstGeom prst="rect">
            <a:avLst/>
          </a:prstGeom>
          <a:solidFill>
            <a:srgbClr val="E4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" y="2880360"/>
            <a:ext cx="1161288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002D62"/>
                </a:solidFill>
              </a:rPr>
              <a:t>Lead Investigator (LI)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3833164"/>
            <a:ext cx="20116800" cy="7315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3840480"/>
            <a:ext cx="20116800" cy="822960"/>
          </a:xfrm>
          <a:prstGeom prst="rect">
            <a:avLst/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3840480"/>
            <a:ext cx="1234440" cy="822960"/>
          </a:xfrm>
          <a:prstGeom prst="rect">
            <a:avLst/>
          </a:prstGeom>
          <a:solidFill>
            <a:srgbClr val="DA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" y="3840480"/>
            <a:ext cx="116128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002D62"/>
                </a:solidFill>
              </a:rPr>
              <a:t>RCC / HoD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656124"/>
            <a:ext cx="20116800" cy="7315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4663440"/>
            <a:ext cx="20116800" cy="9601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4663440"/>
            <a:ext cx="1234440" cy="960120"/>
          </a:xfrm>
          <a:prstGeom prst="rect">
            <a:avLst/>
          </a:prstGeom>
          <a:solidFill>
            <a:srgbClr val="E4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" y="4663440"/>
            <a:ext cx="1161288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002D62"/>
                </a:solidFill>
              </a:rPr>
              <a:t>CEO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5616244"/>
            <a:ext cx="20116800" cy="7315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23560"/>
            <a:ext cx="20116800" cy="960120"/>
          </a:xfrm>
          <a:prstGeom prst="rect">
            <a:avLst/>
          </a:prstGeom>
          <a:solidFill>
            <a:srgbClr val="EEF3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623560"/>
            <a:ext cx="1234440" cy="960120"/>
          </a:xfrm>
          <a:prstGeom prst="rect">
            <a:avLst/>
          </a:prstGeom>
          <a:solidFill>
            <a:srgbClr val="DAD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" y="5623560"/>
            <a:ext cx="1161288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002D62"/>
                </a:solidFill>
              </a:rPr>
              <a:t>HOA / Approved / Sanction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76364"/>
            <a:ext cx="20116800" cy="7315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234440" y="457200"/>
            <a:ext cx="9144" cy="6126480"/>
          </a:xfrm>
          <a:prstGeom prst="rect">
            <a:avLst/>
          </a:prstGeom>
          <a:solidFill>
            <a:srgbClr val="88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464308" y="457200"/>
            <a:ext cx="4572" cy="61264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35908" y="457200"/>
            <a:ext cx="4572" cy="61264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16068" y="457200"/>
            <a:ext cx="4572" cy="61264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0507" y="457200"/>
            <a:ext cx="4572" cy="61264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676387" y="457200"/>
            <a:ext cx="4572" cy="61264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47987" y="457200"/>
            <a:ext cx="4572" cy="61264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465307" y="457200"/>
            <a:ext cx="4572" cy="61264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745467" y="457200"/>
            <a:ext cx="4572" cy="61264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2979907" y="457200"/>
            <a:ext cx="4572" cy="61264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4214347" y="457200"/>
            <a:ext cx="4572" cy="61264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951708" y="457200"/>
            <a:ext cx="4572" cy="61264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7506188" y="457200"/>
            <a:ext cx="4572" cy="6126480"/>
          </a:xfrm>
          <a:prstGeom prst="rect">
            <a:avLst/>
          </a:prstGeom>
          <a:solidFill>
            <a:srgbClr val="CCD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16736" y="182880"/>
            <a:ext cx="11155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1">
                <a:solidFill>
                  <a:srgbClr val="002D62"/>
                </a:solidFill>
              </a:rPr>
              <a:t>1. Raise
Concern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05456" y="182880"/>
            <a:ext cx="12984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1">
                <a:solidFill>
                  <a:srgbClr val="002D62"/>
                </a:solidFill>
              </a:rPr>
              <a:t>2. Receive &amp;
Classify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77056" y="182880"/>
            <a:ext cx="1207007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1">
                <a:solidFill>
                  <a:srgbClr val="002D62"/>
                </a:solidFill>
              </a:rPr>
              <a:t>3. Notify
DRCC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57216" y="182880"/>
            <a:ext cx="11612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1">
                <a:solidFill>
                  <a:srgbClr val="002D62"/>
                </a:solidFill>
              </a:rPr>
              <a:t>4. Assign
Case Owner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91655" y="182880"/>
            <a:ext cx="12527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1">
                <a:solidFill>
                  <a:srgbClr val="002D62"/>
                </a:solidFill>
              </a:rPr>
              <a:t>5. Assign
Lead Investigator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17535" y="182880"/>
            <a:ext cx="12984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1">
                <a:solidFill>
                  <a:srgbClr val="002D62"/>
                </a:solidFill>
              </a:rPr>
              <a:t>6. Investigation
Plan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89135" y="182880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1">
                <a:solidFill>
                  <a:srgbClr val="002D62"/>
                </a:solidFill>
              </a:rPr>
              <a:t>7. Conduct
Investigation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06455" y="182880"/>
            <a:ext cx="1207007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1">
                <a:solidFill>
                  <a:srgbClr val="002D62"/>
                </a:solidFill>
              </a:rPr>
              <a:t>8. Draft
Report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786615" y="182880"/>
            <a:ext cx="11612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1">
                <a:solidFill>
                  <a:srgbClr val="002D62"/>
                </a:solidFill>
              </a:rPr>
              <a:t>9. RCC
Review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021055" y="182880"/>
            <a:ext cx="11612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1">
                <a:solidFill>
                  <a:srgbClr val="002D62"/>
                </a:solidFill>
              </a:rPr>
              <a:t>10. HoD
Review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255495" y="182880"/>
            <a:ext cx="1664207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1">
                <a:solidFill>
                  <a:srgbClr val="002D62"/>
                </a:solidFill>
              </a:rPr>
              <a:t>11. CEO
Approval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992855" y="182880"/>
            <a:ext cx="14813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1">
                <a:solidFill>
                  <a:srgbClr val="002D62"/>
                </a:solidFill>
              </a:rPr>
              <a:t>12. HOA /
Approved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547335" y="182880"/>
            <a:ext cx="1435607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" b="1">
                <a:solidFill>
                  <a:srgbClr val="002D62"/>
                </a:solidFill>
              </a:rPr>
              <a:t>13. Sanction &amp;
Remedial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353312" y="509320"/>
            <a:ext cx="1042416" cy="764438"/>
          </a:xfrm>
          <a:prstGeom prst="roundRect">
            <a:avLst/>
          </a:prstGeom>
          <a:solidFill>
            <a:srgbClr val="D6E4F4"/>
          </a:solidFill>
          <a:ln w="8255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70" b="0">
                <a:solidFill>
                  <a:srgbClr val="222222"/>
                </a:solidFill>
              </a:rPr>
              <a:t>Concern raised locally
(Resguarda / HR /
Compliance / WB
Contact)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542032" y="518007"/>
            <a:ext cx="1225296" cy="747064"/>
          </a:xfrm>
          <a:prstGeom prst="roundRect">
            <a:avLst/>
          </a:prstGeom>
          <a:solidFill>
            <a:srgbClr val="D6E4F4"/>
          </a:solidFill>
          <a:ln w="8255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70" b="0">
                <a:solidFill>
                  <a:srgbClr val="222222"/>
                </a:solidFill>
              </a:rPr>
              <a:t>LCA receives
Confirms protection
status &amp; severity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913632" y="518007"/>
            <a:ext cx="1133856" cy="747064"/>
          </a:xfrm>
          <a:prstGeom prst="roundRect">
            <a:avLst/>
          </a:prstGeom>
          <a:solidFill>
            <a:srgbClr val="D6E4F4"/>
          </a:solidFill>
          <a:ln w="8255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40" b="0">
                <a:solidFill>
                  <a:srgbClr val="222222"/>
                </a:solidFill>
              </a:rPr>
              <a:t>LCA notifies DRCC
Within 48h (Low &amp; Med)
Updates CGR if WB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913632" y="1411376"/>
            <a:ext cx="1133856" cy="606247"/>
          </a:xfrm>
          <a:prstGeom prst="roundRect">
            <a:avLst/>
          </a:prstGeom>
          <a:solidFill>
            <a:srgbClr val="D6E4F4"/>
          </a:solidFill>
          <a:ln w="8255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70" b="0">
                <a:solidFill>
                  <a:srgbClr val="222222"/>
                </a:solidFill>
              </a:rPr>
              <a:t>DRCC receives
&amp; convenes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193792" y="1411376"/>
            <a:ext cx="1088136" cy="606247"/>
          </a:xfrm>
          <a:prstGeom prst="roundRect">
            <a:avLst/>
          </a:prstGeom>
          <a:solidFill>
            <a:srgbClr val="D6E4F4"/>
          </a:solidFill>
          <a:ln w="8255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70" b="0">
                <a:solidFill>
                  <a:srgbClr val="222222"/>
                </a:solidFill>
              </a:rPr>
              <a:t>DRCC assigns
Case Owner (CO)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28231" y="2188616"/>
            <a:ext cx="1179576" cy="606247"/>
          </a:xfrm>
          <a:prstGeom prst="roundRect">
            <a:avLst/>
          </a:prstGeom>
          <a:solidFill>
            <a:srgbClr val="D6E4F4"/>
          </a:solidFill>
          <a:ln w="8255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70" b="0">
                <a:solidFill>
                  <a:srgbClr val="222222"/>
                </a:solidFill>
              </a:rPr>
              <a:t>CO assigns Lead
Investigator (LI)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28231" y="3096387"/>
            <a:ext cx="1179576" cy="528066"/>
          </a:xfrm>
          <a:prstGeom prst="roundRect">
            <a:avLst/>
          </a:prstGeom>
          <a:solidFill>
            <a:srgbClr val="D6E4F4"/>
          </a:solidFill>
          <a:ln w="8255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30" b="0">
                <a:solidFill>
                  <a:srgbClr val="222222"/>
                </a:solidFill>
              </a:rPr>
              <a:t>LI receives
assignment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754111" y="2995574"/>
            <a:ext cx="1225296" cy="729691"/>
          </a:xfrm>
          <a:prstGeom prst="roundRect">
            <a:avLst/>
          </a:prstGeom>
          <a:solidFill>
            <a:srgbClr val="D6E4F4"/>
          </a:solidFill>
          <a:ln w="8255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70" b="0">
                <a:solidFill>
                  <a:srgbClr val="222222"/>
                </a:solidFill>
              </a:rPr>
              <a:t>LI creates
Investigation Plan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754111" y="2204161"/>
            <a:ext cx="1225296" cy="575157"/>
          </a:xfrm>
          <a:prstGeom prst="roundRect">
            <a:avLst/>
          </a:prstGeom>
          <a:solidFill>
            <a:srgbClr val="D6E4F4"/>
          </a:solidFill>
          <a:ln w="8255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40" b="0">
                <a:solidFill>
                  <a:srgbClr val="222222"/>
                </a:solidFill>
              </a:rPr>
              <a:t>CO reviews &amp;
approves Plan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125711" y="2947568"/>
            <a:ext cx="1271016" cy="825703"/>
          </a:xfrm>
          <a:prstGeom prst="roundRect">
            <a:avLst/>
          </a:prstGeom>
          <a:solidFill>
            <a:srgbClr val="D6E4F4"/>
          </a:solidFill>
          <a:ln w="8255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70" b="0">
                <a:solidFill>
                  <a:srgbClr val="222222"/>
                </a:solidFill>
              </a:rPr>
              <a:t>LI conducts
Investigation
(interviews, docs)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543032" y="2985973"/>
            <a:ext cx="1133856" cy="748893"/>
          </a:xfrm>
          <a:prstGeom prst="roundRect">
            <a:avLst/>
          </a:prstGeom>
          <a:solidFill>
            <a:srgbClr val="D6E4F4"/>
          </a:solidFill>
          <a:ln w="8255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70" b="0">
                <a:solidFill>
                  <a:srgbClr val="222222"/>
                </a:solidFill>
              </a:rPr>
              <a:t>LI drafts
Investigation
Report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1823192" y="3906316"/>
            <a:ext cx="1088136" cy="691286"/>
          </a:xfrm>
          <a:prstGeom prst="roundRect">
            <a:avLst/>
          </a:prstGeom>
          <a:solidFill>
            <a:srgbClr val="D6E4F4"/>
          </a:solidFill>
          <a:ln w="8255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40" b="0">
                <a:solidFill>
                  <a:srgbClr val="222222"/>
                </a:solidFill>
              </a:rPr>
              <a:t>DRCC/RCC reviews
draft report &amp;
provides feedback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3057632" y="3898087"/>
            <a:ext cx="1088136" cy="707745"/>
          </a:xfrm>
          <a:prstGeom prst="roundRect">
            <a:avLst/>
          </a:prstGeom>
          <a:solidFill>
            <a:srgbClr val="D6E4F4"/>
          </a:solidFill>
          <a:ln w="8255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40" b="0">
                <a:solidFill>
                  <a:srgbClr val="222222"/>
                </a:solidFill>
              </a:rPr>
              <a:t>LI sends report
to HoD for review
HoD provides
feedback (no CoI)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4292072" y="4718303"/>
            <a:ext cx="1591056" cy="384048"/>
          </a:xfrm>
          <a:prstGeom prst="roundRect">
            <a:avLst/>
          </a:prstGeom>
          <a:solidFill>
            <a:srgbClr val="C8E6CA"/>
          </a:solidFill>
          <a:ln w="9525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30" b="1">
                <a:solidFill>
                  <a:srgbClr val="1B5E20"/>
                </a:solidFill>
              </a:rPr>
              <a:t>CEO APPROVES:
All High &amp; Medium severity cases
Low severity + disciplinary measure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4292072" y="5223052"/>
            <a:ext cx="1591056" cy="345643"/>
          </a:xfrm>
          <a:prstGeom prst="roundRect">
            <a:avLst/>
          </a:prstGeom>
          <a:solidFill>
            <a:srgbClr val="FDDCC4"/>
          </a:solidFill>
          <a:ln w="9525">
            <a:solidFill>
              <a:srgbClr val="BF4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30" b="1">
                <a:solidFill>
                  <a:srgbClr val="BF4000"/>
                </a:solidFill>
              </a:rPr>
              <a:t>BYPASS CEO:
Unsubstantiated OR
no disciplinary measure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6029431" y="5709970"/>
            <a:ext cx="667512" cy="787298"/>
          </a:xfrm>
          <a:prstGeom prst="roundRect">
            <a:avLst/>
          </a:prstGeom>
          <a:solidFill>
            <a:srgbClr val="CCEDE8"/>
          </a:solidFill>
          <a:ln w="9525">
            <a:solidFill>
              <a:srgbClr val="0070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30" b="0">
                <a:solidFill>
                  <a:srgbClr val="00705E"/>
                </a:solidFill>
              </a:rPr>
              <a:t>LOW:
HOA approval
not required
→ Case Approved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6770096" y="5709970"/>
            <a:ext cx="667512" cy="787298"/>
          </a:xfrm>
          <a:prstGeom prst="roundRect">
            <a:avLst/>
          </a:prstGeom>
          <a:solidFill>
            <a:srgbClr val="FBE5CC"/>
          </a:solidFill>
          <a:ln w="9525">
            <a:solidFill>
              <a:srgbClr val="B86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30" b="0">
                <a:solidFill>
                  <a:srgbClr val="B86100"/>
                </a:solidFill>
              </a:rPr>
              <a:t>MEDIUM:
HOA approves
(via CO feedback)
→ Case Approved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7583911" y="5690768"/>
            <a:ext cx="1362456" cy="825703"/>
          </a:xfrm>
          <a:prstGeom prst="roundRect">
            <a:avLst/>
          </a:prstGeom>
          <a:solidFill>
            <a:srgbClr val="D6E4F4"/>
          </a:solidFill>
          <a:ln w="8255">
            <a:solidFill>
              <a:srgbClr val="1A5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40" b="0">
                <a:solidFill>
                  <a:srgbClr val="222222"/>
                </a:solidFill>
              </a:rPr>
              <a:t>Sanction process
(if disciplinary)
Remedial actions
implemented by LI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2395728" y="891540"/>
            <a:ext cx="146304" cy="0"/>
          </a:xfrm>
          <a:prstGeom prst="line">
            <a:avLst/>
          </a:prstGeom>
          <a:ln w="16510">
            <a:solidFill>
              <a:srgbClr val="1A569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3767328" y="891540"/>
            <a:ext cx="146304" cy="0"/>
          </a:xfrm>
          <a:prstGeom prst="line">
            <a:avLst/>
          </a:prstGeom>
          <a:ln w="16510">
            <a:solidFill>
              <a:srgbClr val="1A569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80560" y="1325880"/>
            <a:ext cx="0" cy="0"/>
          </a:xfrm>
          <a:prstGeom prst="line">
            <a:avLst/>
          </a:prstGeom>
          <a:ln w="16510">
            <a:solidFill>
              <a:srgbClr val="1A569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047488" y="1714500"/>
            <a:ext cx="146304" cy="0"/>
          </a:xfrm>
          <a:prstGeom prst="line">
            <a:avLst/>
          </a:prstGeom>
          <a:ln w="16510">
            <a:solidFill>
              <a:srgbClr val="1A569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737859" y="2103120"/>
            <a:ext cx="1280160" cy="0"/>
          </a:xfrm>
          <a:prstGeom prst="line">
            <a:avLst/>
          </a:prstGeom>
          <a:ln w="16510">
            <a:solidFill>
              <a:srgbClr val="1A569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7018019" y="2807208"/>
            <a:ext cx="0" cy="73152"/>
          </a:xfrm>
          <a:prstGeom prst="line">
            <a:avLst/>
          </a:prstGeom>
          <a:ln w="16510">
            <a:solidFill>
              <a:srgbClr val="1A569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366759" y="2880360"/>
            <a:ext cx="0" cy="0"/>
          </a:xfrm>
          <a:prstGeom prst="line">
            <a:avLst/>
          </a:prstGeom>
          <a:ln w="16510">
            <a:solidFill>
              <a:srgbClr val="1A569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79407" y="3360420"/>
            <a:ext cx="146304" cy="0"/>
          </a:xfrm>
          <a:prstGeom prst="line">
            <a:avLst/>
          </a:prstGeom>
          <a:ln w="16510">
            <a:solidFill>
              <a:srgbClr val="1A569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396728" y="3360420"/>
            <a:ext cx="146304" cy="0"/>
          </a:xfrm>
          <a:prstGeom prst="line">
            <a:avLst/>
          </a:prstGeom>
          <a:ln w="16510">
            <a:solidFill>
              <a:srgbClr val="1A569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1676888" y="3360420"/>
            <a:ext cx="146304" cy="891540"/>
          </a:xfrm>
          <a:prstGeom prst="line">
            <a:avLst/>
          </a:prstGeom>
          <a:ln w="16510">
            <a:solidFill>
              <a:srgbClr val="1A569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2911328" y="4251960"/>
            <a:ext cx="146304" cy="0"/>
          </a:xfrm>
          <a:prstGeom prst="line">
            <a:avLst/>
          </a:prstGeom>
          <a:ln w="16510">
            <a:solidFill>
              <a:srgbClr val="1A569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14145767" y="4251960"/>
            <a:ext cx="146305" cy="658367"/>
          </a:xfrm>
          <a:prstGeom prst="line">
            <a:avLst/>
          </a:prstGeom>
          <a:ln w="16510">
            <a:solidFill>
              <a:srgbClr val="1A569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4145767" y="4416552"/>
            <a:ext cx="146305" cy="979322"/>
          </a:xfrm>
          <a:prstGeom prst="line">
            <a:avLst/>
          </a:prstGeom>
          <a:ln w="11430">
            <a:solidFill>
              <a:srgbClr val="777777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5883127" y="4910327"/>
            <a:ext cx="146304" cy="1028701"/>
          </a:xfrm>
          <a:prstGeom prst="line">
            <a:avLst/>
          </a:prstGeom>
          <a:ln w="15240">
            <a:solidFill>
              <a:srgbClr val="00705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15883127" y="4910327"/>
            <a:ext cx="886969" cy="1028701"/>
          </a:xfrm>
          <a:prstGeom prst="line">
            <a:avLst/>
          </a:prstGeom>
          <a:ln w="15240">
            <a:solidFill>
              <a:srgbClr val="B861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15883127" y="5395874"/>
            <a:ext cx="146304" cy="872338"/>
          </a:xfrm>
          <a:prstGeom prst="line">
            <a:avLst/>
          </a:prstGeom>
          <a:ln w="12700">
            <a:solidFill>
              <a:srgbClr val="BF4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15883127" y="5395874"/>
            <a:ext cx="886969" cy="872338"/>
          </a:xfrm>
          <a:prstGeom prst="line">
            <a:avLst/>
          </a:prstGeom>
          <a:ln w="12700">
            <a:solidFill>
              <a:srgbClr val="BF4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6696943" y="6103620"/>
            <a:ext cx="886968" cy="0"/>
          </a:xfrm>
          <a:prstGeom prst="line">
            <a:avLst/>
          </a:prstGeom>
          <a:ln w="16510">
            <a:solidFill>
              <a:srgbClr val="1A569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7437608" y="6103620"/>
            <a:ext cx="146303" cy="109728"/>
          </a:xfrm>
          <a:prstGeom prst="line">
            <a:avLst/>
          </a:prstGeom>
          <a:ln w="16510">
            <a:solidFill>
              <a:srgbClr val="1A569A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0" y="6693408"/>
            <a:ext cx="20116800" cy="12801"/>
          </a:xfrm>
          <a:prstGeom prst="rect">
            <a:avLst/>
          </a:prstGeom>
          <a:solidFill>
            <a:srgbClr val="002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37160" y="6729984"/>
            <a:ext cx="9784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00705E"/>
                </a:solidFill>
              </a:rPr>
              <a:t>LOW PROTECTED ROUTE:  Raised locally → LCA classifies (Low / Protected) → DRCC notified within 48h → CO assigned → LI assigned → Investigation Plan (CO approved) → LI investigates → Draft Report → RCC review → HoD review → CEO approves ONLY if disciplinary measure recommended; unsubstantiated or no disciplinary = CEO bypassed → HOA approval NOT required for Low cases → Case Approved → Sanction (if applicable) → Remedial Actions.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149840" y="6729984"/>
            <a:ext cx="97840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70" b="0">
                <a:solidFill>
                  <a:srgbClr val="B86100"/>
                </a:solidFill>
              </a:rPr>
              <a:t>MEDIUM PROTECTED ROUTE:  Same steps as Low Protected through HoD review → CEO approves ALL Medium severity cases (unless unsubstantiated or no disciplinary measure → CEO bypassed) → HOA approval IS REQUIRED for Medium cases → Case Approved → Sanction (if disciplinary) → Remedial Actions.  Key difference from Low: HOA approval always required for Medium.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