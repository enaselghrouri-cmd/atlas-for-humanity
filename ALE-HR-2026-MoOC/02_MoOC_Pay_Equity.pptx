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13"/>
    <p:sldId id="262" r:id="rId1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5" d="100"/>
          <a:sy n="135" d="100"/>
        </p:scale>
        <p:origin x="2152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374E-ECEC-410C-8F7C-E3EB01AE7936}" type="datetimeFigureOut">
              <a:rPr lang="en-GB" smtClean="0"/>
              <a:t>22/05/2026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05D25-BDA0-4DD9-B983-D967015A9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60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Relationship Id="rId3" Type="http://schemas.openxmlformats.org/officeDocument/2006/relationships/image" Target="../media/image4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emf"/><Relationship Id="rId3" Type="http://schemas.openxmlformats.org/officeDocument/2006/relationships/image" Target="../media/image3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emf"/><Relationship Id="rId3" Type="http://schemas.openxmlformats.org/officeDocument/2006/relationships/image" Target="../media/image3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emf"/><Relationship Id="rId3" Type="http://schemas.openxmlformats.org/officeDocument/2006/relationships/image" Target="../media/image3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1927860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7743" y="6268211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0" y="6353555"/>
            <a:ext cx="829900" cy="14935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31580" y="6321552"/>
            <a:ext cx="1089659" cy="3032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9934-C5A8-4028-9684-B5E5762D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AE043-AC79-4442-82F4-6111F8F0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40A14-BAF3-4351-B0CB-7A62AC4B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76FCE69-E224-1945-80EC-87FA07217D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0B6667-6008-AE47-AF9B-C7EEEAE5F1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91194" y="0"/>
            <a:ext cx="2315528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7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0B393B-36F7-4A4F-AC82-6E456B0993A1}"/>
              </a:ext>
            </a:extLst>
          </p:cNvPr>
          <p:cNvSpPr/>
          <p:nvPr userDrawn="1"/>
        </p:nvSpPr>
        <p:spPr>
          <a:xfrm>
            <a:off x="0" y="1305599"/>
            <a:ext cx="10058400" cy="646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2E59C-0A3C-9048-908E-6F3DB39001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0433" y="1306047"/>
            <a:ext cx="4430541" cy="64663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91BA771B-D35B-EDC5-241E-8234D07C3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E5C5B19-01C2-66A6-25DC-0212E1E9B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9E3D4127-59CD-BE30-B448-C1D28EB1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079FADD2-5B82-6478-0743-7E8FD7C516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5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24CDE6-D3C3-6346-B907-B892BBC3A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0318" y="0"/>
            <a:ext cx="6568082" cy="77724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87628-80BA-864E-BE7E-10B65B9E28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02788" y="0"/>
            <a:ext cx="5254466" cy="77724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92AE7F0-6E36-499E-A63C-363ECAE46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2821500" cy="1631844"/>
          </a:xfrm>
        </p:spPr>
        <p:txBody>
          <a:bodyPr anchor="b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B3EE195-4994-11BE-5995-18E48B5EE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2821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88494EB-FFA2-4E2C-E13C-CF7267E02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104" y="5109633"/>
            <a:ext cx="1633500" cy="204000"/>
          </a:xfrm>
        </p:spPr>
        <p:txBody>
          <a:bodyPr anchor="b"/>
          <a:lstStyle>
            <a:lvl1pPr>
              <a:defRPr sz="1155">
                <a:latin typeface="Aptos" panose="020B0004020202020204" pitchFamily="34" charset="0"/>
              </a:defRPr>
            </a:lvl1pPr>
          </a:lstStyle>
          <a:p>
            <a:fld id="{BA3A08FC-71F2-E048-81E4-3A1F3F31BDC5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11FE8EBC-A915-787F-E9A1-EA813EEC2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82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F24CDE6-D3C3-6346-B907-B892BBC3AE8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298016"/>
            <a:ext cx="10058400" cy="476288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039934-C5A8-4028-9684-B5E5762D9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999" y="6297216"/>
            <a:ext cx="6385500" cy="549332"/>
          </a:xfrm>
        </p:spPr>
        <p:txBody>
          <a:bodyPr anchor="t" anchorCtr="0"/>
          <a:lstStyle>
            <a:lvl1pPr algn="l">
              <a:defRPr sz="297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AE043-AC79-4442-82F4-6111F8F08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999" y="6815405"/>
            <a:ext cx="6385500" cy="408000"/>
          </a:xfrm>
        </p:spPr>
        <p:txBody>
          <a:bodyPr tIns="72000"/>
          <a:lstStyle>
            <a:lvl1pPr marL="0" indent="0" algn="l">
              <a:buNone/>
              <a:defRPr sz="1485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40A14-BAF3-4351-B0CB-7A62AC4B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4570" y="6967451"/>
            <a:ext cx="2028272" cy="244800"/>
          </a:xfrm>
        </p:spPr>
        <p:txBody>
          <a:bodyPr anchor="b"/>
          <a:lstStyle>
            <a:lvl1pPr algn="r">
              <a:defRPr sz="1320"/>
            </a:lvl1pPr>
          </a:lstStyle>
          <a:p>
            <a:fld id="{48620B28-2CE9-5544-8D74-1737CEB551DE}" type="datetime4">
              <a:rPr lang="en-GB" smtClean="0"/>
              <a:pPr/>
              <a:t>22 May 2026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ACB28-3C20-4342-9E9F-D14B9A320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18841" y="1298016"/>
            <a:ext cx="1554873" cy="521007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A76918FF-D985-DD71-9D0D-6792A6148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105" y="388077"/>
            <a:ext cx="2155149" cy="5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487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149C4E-B713-CA46-8E53-B6B9560BD5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4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542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4A65-CE32-AA40-B04C-17BFA3F78D5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E9239E-F812-4542-B55A-4BC315D50F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6208" y="0"/>
            <a:ext cx="2734628" cy="7772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BED50BFE-3C9F-FE41-ED85-623E6DB6D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800A21F3-5FC8-A998-C658-C2D587933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9751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61179C-3A4C-2D4D-9B70-29A4EB0FD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F7677-FB46-1547-9A97-6FF69453B153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2A2DE4-2FDA-EE22-B12E-053AA0CF5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96C685C-7487-FFB9-345E-9C5DF1A42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2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9593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F622B3-387F-F24A-BBB4-379761F14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FE4DE-9464-F643-971B-BF1681AD3597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7F50077-3455-903C-2CEC-32F9A37D1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AD0052D-9570-100B-56DD-EDF3E4654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  <a:ln>
            <a:noFill/>
          </a:ln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3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2072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I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D7FEE1-5EEC-9A44-9EED-FB835BEE15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8FE6E-9CA4-0B4A-A51E-FE23E9EE8DF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99D57-4610-E4FC-6591-41A6A13AB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D30E5FD-F00F-93B5-895E-8D69AAD19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4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9764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EA4F8A-2120-0F42-9DFE-41CBA37C5C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7290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3FAC-E5AB-5B4F-9252-A74EE98C7364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66FC75B-9FB3-3DE4-1CBB-C0746ED22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8A363A8-58AB-E665-EBB7-FE7CFDBD1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5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3203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983C9D-3CEF-7544-B756-F1314AD3D9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6208" y="0"/>
            <a:ext cx="2734628" cy="7772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049A8F-373D-4350-3498-534A2C546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6385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8453B-BF9E-7CC1-7865-850AA04D5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6385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accent6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6567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34E361-64EF-9343-8235-FE836AE83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37659"/>
            <a:ext cx="10058400" cy="6372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9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6EFD77-0109-C79F-296F-E23287045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64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20C415E-C2C5-FE9C-ED33-4AA2D9455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573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F34E361-64EF-9343-8235-FE836AE83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99876"/>
            <a:ext cx="10058400" cy="637264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99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6046-1DA4-A24F-81B0-75256772F1A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DBF8A5-9039-68ED-3D66-0A285D54E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04" y="2254356"/>
            <a:ext cx="5197500" cy="1631844"/>
          </a:xfrm>
        </p:spPr>
        <p:txBody>
          <a:bodyPr anchor="b"/>
          <a:lstStyle>
            <a:lvl1pPr algn="l"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5FE02F0-3FEE-3AFC-DB69-ED5B4A455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104" y="3886200"/>
            <a:ext cx="5197500" cy="816000"/>
          </a:xfrm>
        </p:spPr>
        <p:txBody>
          <a:bodyPr tIns="72000"/>
          <a:lstStyle>
            <a:lvl1pPr marL="0" indent="0" algn="l">
              <a:buNone/>
              <a:defRPr sz="1650" b="0">
                <a:latin typeface="Aptos" panose="020B00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0719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911115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7954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991A5-1810-42E4-9C28-E8B8157E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3722" y="2257952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2AEAC-0B76-BB48-A531-C8256381FF9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02FCF22-5A23-BFD6-02AB-C1E197AF11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222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709D4E-C3D8-9149-B03C-AE409323B76C}"/>
              </a:ext>
            </a:extLst>
          </p:cNvPr>
          <p:cNvSpPr/>
          <p:nvPr userDrawn="1"/>
        </p:nvSpPr>
        <p:spPr>
          <a:xfrm>
            <a:off x="0" y="820418"/>
            <a:ext cx="10058400" cy="13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43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33279-24A0-1D40-9C45-92A893C8FB5B}" type="datetime4">
              <a:rPr lang="en-GB" smtClean="0"/>
              <a:t>22 May 2026</a:t>
            </a:fld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81BC85A-E445-104A-8867-713FE9CEF6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44200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CC99025-ADB9-1444-A5E1-C8FD2B6CCF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812056" y="2255022"/>
            <a:ext cx="2970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BD1F921-4B95-33C3-F805-CBBB556B2D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091F7C-5917-6BB5-E006-D5E1C0A33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911115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7950B1D-C534-DBB3-D2EE-A43810082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344" y="440805"/>
            <a:ext cx="2970372" cy="2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6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2822450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1CA522A-9C65-804F-B975-E034CD6E7807}"/>
              </a:ext>
            </a:extLst>
          </p:cNvPr>
          <p:cNvSpPr/>
          <p:nvPr userDrawn="1"/>
        </p:nvSpPr>
        <p:spPr>
          <a:xfrm>
            <a:off x="282892" y="2259753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42" y="4838416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DAED70F-320E-484A-A4FF-EFB35A451A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943" y="2291818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9A5451-8589-244D-A4E3-2EE725EADBBE}"/>
              </a:ext>
            </a:extLst>
          </p:cNvPr>
          <p:cNvCxnSpPr/>
          <p:nvPr userDrawn="1"/>
        </p:nvCxnSpPr>
        <p:spPr>
          <a:xfrm>
            <a:off x="282893" y="7155753"/>
            <a:ext cx="2079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1C831CD-6763-7744-9CDF-E1504FC392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7142" y="3036851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4216BB2C-E3FA-8B49-8591-72FB6B3537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DE3E1D-49C4-4786-5345-FABA175AFA5B}"/>
              </a:ext>
            </a:extLst>
          </p:cNvPr>
          <p:cNvSpPr/>
          <p:nvPr userDrawn="1"/>
        </p:nvSpPr>
        <p:spPr>
          <a:xfrm>
            <a:off x="7607408" y="2259753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027463D9-2F48-974A-77BD-2242019A2E5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681658" y="4838416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4C41CAF7-076C-80D7-E39A-876CC89071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5458" y="2291818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4386240-B33E-E7F8-4578-5F8A2C138003}"/>
              </a:ext>
            </a:extLst>
          </p:cNvPr>
          <p:cNvCxnSpPr/>
          <p:nvPr userDrawn="1"/>
        </p:nvCxnSpPr>
        <p:spPr>
          <a:xfrm>
            <a:off x="7607408" y="7155753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icture Placeholder 11">
            <a:extLst>
              <a:ext uri="{FF2B5EF4-FFF2-40B4-BE49-F238E27FC236}">
                <a16:creationId xmlns:a16="http://schemas.microsoft.com/office/drawing/2014/main" id="{5444DC81-D2C3-22E8-428D-9CD562EDA88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681658" y="3036851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3BF397-D001-A707-0054-84F683D11540}"/>
              </a:ext>
            </a:extLst>
          </p:cNvPr>
          <p:cNvSpPr/>
          <p:nvPr userDrawn="1"/>
        </p:nvSpPr>
        <p:spPr>
          <a:xfrm>
            <a:off x="2715462" y="2254356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633D466F-A12B-006C-FC3F-7CA512BEC69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789712" y="4833020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885F3D4-E77E-F427-CE03-F5F9A1F282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03513" y="2286421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17057F2-12E8-C58F-3F6A-CF9879D15F27}"/>
              </a:ext>
            </a:extLst>
          </p:cNvPr>
          <p:cNvCxnSpPr/>
          <p:nvPr userDrawn="1"/>
        </p:nvCxnSpPr>
        <p:spPr>
          <a:xfrm>
            <a:off x="2715462" y="7150356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B5A4EB69-BBFD-E390-A631-8B0A29CB64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89712" y="3031454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702890-570A-C8DE-A70A-B6BDCF4FC0C5}"/>
              </a:ext>
            </a:extLst>
          </p:cNvPr>
          <p:cNvSpPr/>
          <p:nvPr userDrawn="1"/>
        </p:nvSpPr>
        <p:spPr>
          <a:xfrm>
            <a:off x="5174838" y="2254356"/>
            <a:ext cx="2168100" cy="4855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39107BBE-C5F4-007C-B45B-D6628DF1876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249088" y="4833020"/>
            <a:ext cx="2019600" cy="2142000"/>
          </a:xfrm>
        </p:spPr>
        <p:txBody>
          <a:bodyPr/>
          <a:lstStyle>
            <a:lvl1pPr>
              <a:defRPr sz="907"/>
            </a:lvl1pPr>
            <a:lvl2pPr>
              <a:defRPr sz="907"/>
            </a:lvl2pPr>
            <a:lvl3pPr>
              <a:defRPr sz="866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2692B32B-1457-1CAC-5152-FA159EFEED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2889" y="2286421"/>
            <a:ext cx="1514700" cy="7344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FE1731D-78BD-7D04-C304-A20F4B354484}"/>
              </a:ext>
            </a:extLst>
          </p:cNvPr>
          <p:cNvCxnSpPr/>
          <p:nvPr userDrawn="1"/>
        </p:nvCxnSpPr>
        <p:spPr>
          <a:xfrm>
            <a:off x="5174838" y="7150356"/>
            <a:ext cx="21681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Picture Placeholder 11">
            <a:extLst>
              <a:ext uri="{FF2B5EF4-FFF2-40B4-BE49-F238E27FC236}">
                <a16:creationId xmlns:a16="http://schemas.microsoft.com/office/drawing/2014/main" id="{1A769875-FC8C-BC3F-18D5-B58C471C07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49088" y="3031454"/>
            <a:ext cx="2019600" cy="1632000"/>
          </a:xfrm>
        </p:spPr>
        <p:txBody>
          <a:bodyPr/>
          <a:lstStyle>
            <a:lvl1pPr>
              <a:defRPr sz="907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605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an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654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BB95B-9328-F443-B9E1-463DC77725D2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1F84ECD-DA6F-2941-8014-B716DC97B40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8474" y="2254356"/>
            <a:ext cx="1782000" cy="4896000"/>
          </a:xfrm>
          <a:solidFill>
            <a:schemeClr val="bg2"/>
          </a:solidFill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938D7F-005F-2C4E-8129-4B52BC92C92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139294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6F86058-1F59-254E-B1B7-94D34812744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70114" y="2254356"/>
            <a:ext cx="1782000" cy="4896000"/>
          </a:xfrm>
          <a:solidFill>
            <a:schemeClr val="bg2"/>
          </a:solidFill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CCD386-0111-CD4A-8650-CCD4BE48C19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00933" y="2254356"/>
            <a:ext cx="1782000" cy="4896000"/>
          </a:xfrm>
          <a:ln w="9525">
            <a:solidFill>
              <a:schemeClr val="tx1"/>
            </a:solidFill>
          </a:ln>
        </p:spPr>
        <p:txBody>
          <a:bodyPr lIns="108000" tIns="108000" rIns="108000" bIns="36000">
            <a:normAutofit/>
          </a:bodyPr>
          <a:lstStyle>
            <a:lvl1pPr>
              <a:defRPr sz="1155"/>
            </a:lvl1pPr>
            <a:lvl2pPr>
              <a:defRPr sz="1155"/>
            </a:lvl2pPr>
            <a:lvl3pPr>
              <a:defRPr sz="990"/>
            </a:lvl3pPr>
            <a:lvl4pPr>
              <a:defRPr sz="907"/>
            </a:lvl4pPr>
            <a:lvl5pPr>
              <a:defRPr sz="90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88BD9F7-0AA8-0BE3-4ECC-D88F709718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97664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91F3CC-CCDF-6F49-9B66-7B1AD7E707A6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6"/>
            <a:ext cx="3035858" cy="4683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561C-5163-8E4A-8A96-73BD9421FCCB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D49F5549-5371-B742-AAD0-2D75716D94B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39057" y="2254356"/>
            <a:ext cx="5643000" cy="4896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FA6EF2-645D-88CD-250D-FFAACD2853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316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27855E8-A0B6-15B7-7A71-3223912F525B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2254354"/>
            <a:ext cx="3118500" cy="440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2C53-EC4A-0340-BBC4-3A13D8DC6CA4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41313" y="825818"/>
            <a:ext cx="5940742" cy="63218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6345" y="6739678"/>
            <a:ext cx="3118500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56D2B4-EBC0-51BC-3255-B9147710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A62F40B-A268-3824-42D9-257245C4E2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2612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5B9AA75-0FF3-BDDD-C8EB-C80E731A7158}"/>
              </a:ext>
            </a:extLst>
          </p:cNvPr>
          <p:cNvSpPr/>
          <p:nvPr userDrawn="1"/>
        </p:nvSpPr>
        <p:spPr>
          <a:xfrm>
            <a:off x="0" y="717867"/>
            <a:ext cx="3490318" cy="652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0955C2-F8A0-E140-8B82-88213ECD8971}"/>
              </a:ext>
            </a:extLst>
          </p:cNvPr>
          <p:cNvSpPr/>
          <p:nvPr userDrawn="1"/>
        </p:nvSpPr>
        <p:spPr>
          <a:xfrm>
            <a:off x="3696462" y="717866"/>
            <a:ext cx="6085594" cy="65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2254355"/>
            <a:ext cx="3118500" cy="489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A3CF-2578-7E4C-BC35-A9CA84D2DDA1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11685" y="2254354"/>
            <a:ext cx="2821500" cy="3182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11685" y="5518045"/>
            <a:ext cx="2821500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74F2375-0660-874D-883D-379D9376DF44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844590" y="2254356"/>
            <a:ext cx="2821500" cy="48959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E33884A-981F-8E4A-9D72-7A5AD87141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48806" y="1521918"/>
            <a:ext cx="5338653" cy="608295"/>
          </a:xfrm>
        </p:spPr>
        <p:txBody>
          <a:bodyPr/>
          <a:lstStyle>
            <a:lvl1pPr>
              <a:spcBef>
                <a:spcPts val="0"/>
              </a:spcBef>
              <a:defRPr sz="1155" b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60082E3-5C13-304D-9342-C29C847685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48806" y="809770"/>
            <a:ext cx="5338653" cy="693600"/>
          </a:xfrm>
        </p:spPr>
        <p:txBody>
          <a:bodyPr anchor="b"/>
          <a:lstStyle>
            <a:lvl1pPr>
              <a:spcBef>
                <a:spcPts val="0"/>
              </a:spcBef>
              <a:defRPr sz="165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E976282-5DC4-E8F9-6C42-C068A4E405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6343" y="1521918"/>
            <a:ext cx="3118500" cy="612000"/>
          </a:xfrm>
        </p:spPr>
        <p:txBody>
          <a:bodyPr tIns="72000"/>
          <a:lstStyle>
            <a:lvl1pPr>
              <a:spcBef>
                <a:spcPts val="0"/>
              </a:spcBef>
              <a:defRPr sz="1155" b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368B0F0-EAE5-8359-4C3A-3C5FCF47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809770"/>
            <a:ext cx="3118500" cy="693600"/>
          </a:xfrm>
        </p:spPr>
        <p:txBody>
          <a:bodyPr/>
          <a:lstStyle>
            <a:lvl1pPr>
              <a:defRPr sz="16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5238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  <p15:guide id="2" orient="horz" pos="68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4" y="3365123"/>
            <a:ext cx="4677750" cy="3794400"/>
          </a:xfrm>
          <a:ln w="12700">
            <a:solidFill>
              <a:schemeClr val="accent1"/>
            </a:solidFill>
          </a:ln>
        </p:spPr>
        <p:txBody>
          <a:bodyPr lIns="108000" tIns="108000" rIns="108000" bIns="10800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CF8FD-2D2A-3546-B42B-4B51B1FB7EE3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4D8E623-D4C0-2142-82C8-022EA69C1D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02542" y="2261553"/>
            <a:ext cx="4677750" cy="44064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E22BFFA-D4A4-7747-BB6D-14E7B01BF8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02542" y="6739825"/>
            <a:ext cx="3092173" cy="408000"/>
          </a:xfrm>
        </p:spPr>
        <p:txBody>
          <a:bodyPr/>
          <a:lstStyle>
            <a:lvl1pPr>
              <a:spcBef>
                <a:spcPts val="0"/>
              </a:spcBef>
              <a:defRPr sz="660" cap="all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1C5E8A-3AA5-3E44-ADC8-2406D361B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6D43E0B-6D27-E548-BFE8-B47F930CFEC9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276344" y="2254356"/>
            <a:ext cx="4677750" cy="111076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108000" tIns="108000" rIns="108000" bIns="108000"/>
          <a:lstStyle>
            <a:lvl1pPr>
              <a:spcBef>
                <a:spcPts val="0"/>
              </a:spcBef>
              <a:defRPr sz="1650">
                <a:solidFill>
                  <a:schemeClr val="bg1"/>
                </a:solidFill>
              </a:defRPr>
            </a:lvl1pPr>
            <a:lvl2pPr marL="2619" indent="0">
              <a:spcBef>
                <a:spcPts val="660"/>
              </a:spcBef>
              <a:buNone/>
              <a:defRPr sz="990" b="1">
                <a:solidFill>
                  <a:schemeClr val="bg1"/>
                </a:solidFill>
                <a:latin typeface="Aptos" panose="020B00040202020202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404050E-EA51-3FEB-5726-3C70026453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7838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all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5"/>
            <a:ext cx="467775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991A5-1810-42E4-9C28-E8B8157E9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27811" y="2289096"/>
            <a:ext cx="3861000" cy="1836000"/>
          </a:xfrm>
        </p:spPr>
        <p:txBody>
          <a:bodyPr anchor="ctr" anchorCtr="0">
            <a:normAutofit/>
          </a:bodyPr>
          <a:lstStyle>
            <a:lvl1pPr>
              <a:spcBef>
                <a:spcPts val="0"/>
              </a:spcBef>
              <a:defRPr sz="1485" b="1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8F8C2-9F17-6142-8B9A-8BED3A5FB3D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754878-0203-3446-8F48-695D61BF073A}"/>
              </a:ext>
            </a:extLst>
          </p:cNvPr>
          <p:cNvCxnSpPr/>
          <p:nvPr userDrawn="1"/>
        </p:nvCxnSpPr>
        <p:spPr>
          <a:xfrm>
            <a:off x="5320256" y="2290830"/>
            <a:ext cx="38313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91F3B8-BA3B-8940-9B64-CFCFD8AA08EC}"/>
              </a:ext>
            </a:extLst>
          </p:cNvPr>
          <p:cNvCxnSpPr/>
          <p:nvPr userDrawn="1"/>
        </p:nvCxnSpPr>
        <p:spPr>
          <a:xfrm>
            <a:off x="5320256" y="4123364"/>
            <a:ext cx="3861000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141482F-081B-7353-9330-8C56CA5B4E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6587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Multi-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8DEB-45A1-432B-AAB4-3BEDEBF8B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04B63-1DEB-4985-91AE-303915569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343" y="2254356"/>
            <a:ext cx="3861000" cy="489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A55A2-A43D-42DD-B87A-834C4DB2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0743E-ABB9-2D4C-B47D-57CDC43C235D}" type="datetime4">
              <a:rPr lang="en-GB" smtClean="0"/>
              <a:t>22 May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F0159-0B32-4E88-B871-614CCFB5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EB225FDA-A9D3-D949-818F-B7B362033C5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597685" y="2255022"/>
            <a:ext cx="2524500" cy="48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1" name="Chart Placeholder 9">
            <a:extLst>
              <a:ext uri="{FF2B5EF4-FFF2-40B4-BE49-F238E27FC236}">
                <a16:creationId xmlns:a16="http://schemas.microsoft.com/office/drawing/2014/main" id="{79B3A9E5-4060-234F-ABCF-CA544C37E25B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7255773" y="2254356"/>
            <a:ext cx="2524500" cy="48960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450210D2-782D-8703-D001-F9A18DEEE3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30422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750A8D3-234C-AB42-B9F7-06DC19BA8215}"/>
              </a:ext>
            </a:extLst>
          </p:cNvPr>
          <p:cNvSpPr/>
          <p:nvPr userDrawn="1"/>
        </p:nvSpPr>
        <p:spPr>
          <a:xfrm>
            <a:off x="4124206" y="2254357"/>
            <a:ext cx="5657850" cy="48955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43" y="2254357"/>
            <a:ext cx="3712500" cy="48955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190FD-91DD-E247-9479-297B5FAD1AB6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549A21-D8D6-634B-BBF8-855577795E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6750" y="2506225"/>
            <a:ext cx="5191392" cy="3790948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A1B42982-A50D-3540-B74B-6CAD9C19E6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34602" y="6334866"/>
            <a:ext cx="1188000" cy="408000"/>
          </a:xfrm>
        </p:spPr>
        <p:txBody>
          <a:bodyPr/>
          <a:lstStyle>
            <a:lvl1pPr>
              <a:spcBef>
                <a:spcPts val="248"/>
              </a:spcBef>
              <a:defRPr sz="660" cap="none" baseline="0"/>
            </a:lvl1pPr>
            <a:lvl2pPr>
              <a:defRPr sz="825"/>
            </a:lvl2pPr>
            <a:lvl3pPr>
              <a:defRPr sz="825"/>
            </a:lvl3pPr>
            <a:lvl4pPr>
              <a:defRPr sz="825"/>
            </a:lvl4pPr>
            <a:lvl5pPr>
              <a:defRPr sz="82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97317F1-618E-CD1F-9C2C-AF2D1381AB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C470862-206F-4722-6E18-6AC6D8630F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24206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68181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D823-CE1B-4628-8DBA-CB51187D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6630-65FE-48F5-AAFE-A3CD0D4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70" y="3170886"/>
            <a:ext cx="2970000" cy="3978000"/>
          </a:xfrm>
        </p:spPr>
        <p:txBody>
          <a:bodyPr/>
          <a:lstStyle>
            <a:lvl1pPr>
              <a:defRPr sz="990"/>
            </a:lvl1pPr>
            <a:lvl2pPr>
              <a:defRPr sz="990"/>
            </a:lvl2pPr>
            <a:lvl3pPr>
              <a:defRPr sz="907"/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0FAB4-79F2-4027-B62C-00F51741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78FFB-1905-7045-95A4-E91625F6A62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6B2F-D730-404D-83C1-BD4BBB0C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846C35-F289-EE40-A634-092EAD5800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0943" y="2254356"/>
            <a:ext cx="891000" cy="8160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F99ECE-A4F5-7B44-8856-0C94A7DC76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55343" y="2253378"/>
            <a:ext cx="891000" cy="816000"/>
          </a:xfrm>
        </p:spPr>
        <p:txBody>
          <a:bodyPr anchor="ctr" anchorCtr="0"/>
          <a:lstStyle>
            <a:lvl1pPr>
              <a:spcBef>
                <a:spcPts val="0"/>
              </a:spcBef>
              <a:defRPr sz="1155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E80CA76-C221-C64A-8D47-FDED5A35CA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03540" y="2259976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6934A6-3F98-0F41-900B-7FF6529D60C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29515" y="225975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EF7477C-10CF-474D-92F4-D3929AE88FF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55489" y="225975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4E98013-1E3D-8349-AFFC-E8FEBDE347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03540" y="3717860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988BCAB-56A1-7E4B-99D3-6912D48900E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503540" y="3914790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5000B8F2-861F-CC46-830E-038312C53C1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29515" y="3914568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3CE116FC-C835-E042-BCAD-B7896E2491B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55489" y="3914568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A41C82A-69FE-244D-AB5C-295A50DFE0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03540" y="5372674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1840705B-B3F5-B04C-A4CD-0AD74AA0469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503540" y="5569604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77A57F4A-F690-7E43-A463-0EC4C6B2125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629515" y="5569382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E5C5BEAC-E4E5-9547-91E3-051B3576FCB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755489" y="5569382"/>
            <a:ext cx="2019600" cy="1451187"/>
          </a:xfrm>
        </p:spPr>
        <p:txBody>
          <a:bodyPr/>
          <a:lstStyle>
            <a:lvl1pPr>
              <a:defRPr sz="66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96EF90F3-5254-E048-B269-985F1C2B5B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03540" y="702748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2B1AA4EC-03CC-2744-9FA9-B15DC73661A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29515" y="371763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DD8F263-9E02-3841-AE04-0E8DB1CDF1A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29515" y="5372452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3286E89-7E34-1040-8FB3-1EF075A0279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29515" y="7027266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CE1090E-FED9-FF49-A2E4-E5A95723BBC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755489" y="3717638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6A279D88-5FC8-7F43-AF3A-6C1F3747923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755489" y="5372452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647BA38-9C9A-DB4F-B99A-CCFBB2AA8AE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5489" y="7027266"/>
            <a:ext cx="2019600" cy="122400"/>
          </a:xfrm>
        </p:spPr>
        <p:txBody>
          <a:bodyPr/>
          <a:lstStyle>
            <a:lvl1pPr>
              <a:spcBef>
                <a:spcPts val="0"/>
              </a:spcBef>
              <a:defRPr sz="660" b="1" i="0" cap="all" baseline="0">
                <a:latin typeface="Aptos" panose="020B0004020202020204" pitchFamily="34" charset="0"/>
              </a:defRPr>
            </a:lvl1pPr>
            <a:lvl2pPr>
              <a:defRPr sz="660"/>
            </a:lvl2pPr>
            <a:lvl3pPr>
              <a:defRPr sz="660"/>
            </a:lvl3pPr>
            <a:lvl4pPr>
              <a:defRPr sz="660"/>
            </a:lvl4pPr>
            <a:lvl5pPr>
              <a:defRPr sz="66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F9E66318-B1F1-06C5-C8AF-5134D3F154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24617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3" y="622511"/>
            <a:ext cx="8317826" cy="8994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92B5E-A7E1-614E-BBF8-D39702AA0A13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DF5E-44CD-8941-97E6-1DC616F35F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24701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7AA3A25-6091-A14B-95FD-CDA8A4C986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6343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69F750A-73F2-A041-9E35-679E2031E4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2161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2D1EADCD-B28A-324D-B0F4-E16662C7C5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04494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F587B30-8AAA-1D41-942E-B5A36A39D3A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74382" y="2254356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0BFFEFA2-94DC-574B-AC87-41E2A311F5F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31954" y="2254356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F6B6C49-1A3F-D644-B5EA-D1E65EC068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4701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9021142A-ED13-9D47-B507-2E4AFB43C10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6343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E98C2E5-B46A-BF4A-AED1-A1FECFD90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52161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DE808C28-1D48-0F41-A592-0440AFFAA55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04494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3FC1DF79-D852-C448-B94B-E6F36D8EBA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74382" y="5619888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5EDCF141-F8D7-5B4E-B2C0-2E9C3FC0009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731954" y="5619888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DE78E05-D3A3-444A-98E5-8C758ECFBA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24701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2E66927B-AC89-8A48-9A3D-6768C750067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76343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844BD286-F6AC-8F45-85FB-8C3ECD12881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52161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7" name="Picture Placeholder 9">
            <a:extLst>
              <a:ext uri="{FF2B5EF4-FFF2-40B4-BE49-F238E27FC236}">
                <a16:creationId xmlns:a16="http://schemas.microsoft.com/office/drawing/2014/main" id="{691CA2BC-896B-314B-90D9-94876F42807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504494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1273938-E462-8B40-ABB9-1930C87A69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74382" y="3937123"/>
            <a:ext cx="1707750" cy="1530000"/>
          </a:xfrm>
          <a:solidFill>
            <a:schemeClr val="bg2"/>
          </a:solidFill>
        </p:spPr>
        <p:txBody>
          <a:bodyPr lIns="144000" tIns="90000" rIns="72000" bIns="72000"/>
          <a:lstStyle>
            <a:lvl1pPr>
              <a:lnSpc>
                <a:spcPct val="90000"/>
              </a:lnSpc>
              <a:defRPr sz="907" b="1">
                <a:latin typeface="Aptos" panose="020B0004020202020204" pitchFamily="34" charset="0"/>
              </a:defRPr>
            </a:lvl1pPr>
            <a:lvl2pPr marL="2619" indent="0">
              <a:lnSpc>
                <a:spcPct val="90000"/>
              </a:lnSpc>
              <a:spcBef>
                <a:spcPts val="165"/>
              </a:spcBef>
              <a:spcAft>
                <a:spcPts val="743"/>
              </a:spcAft>
              <a:buNone/>
              <a:defRPr sz="660" b="1" cap="all" baseline="0">
                <a:latin typeface="Aptos" panose="020B0004020202020204" pitchFamily="34" charset="0"/>
              </a:defRPr>
            </a:lvl2pPr>
            <a:lvl3pPr marL="75962" indent="-72033">
              <a:lnSpc>
                <a:spcPct val="90000"/>
              </a:lnSpc>
              <a:spcBef>
                <a:spcPts val="0"/>
              </a:spcBef>
              <a:spcAft>
                <a:spcPts val="165"/>
              </a:spcAft>
              <a:buFont typeface="Arial" panose="020B0604020202020204" pitchFamily="34" charset="0"/>
              <a:buChar char="•"/>
              <a:tabLst/>
              <a:defRPr sz="660">
                <a:latin typeface="Aptos" panose="020B0004020202020204" pitchFamily="34" charset="0"/>
              </a:defRPr>
            </a:lvl3pPr>
            <a:lvl4pPr>
              <a:defRPr sz="866"/>
            </a:lvl4pPr>
            <a:lvl5pPr>
              <a:defRPr sz="866"/>
            </a:lvl5pPr>
          </a:lstStyle>
          <a:p>
            <a:pPr lvl="0"/>
            <a:r>
              <a:rPr lang="en-GB" dirty="0"/>
              <a:t>Name Surname</a:t>
            </a:r>
          </a:p>
          <a:p>
            <a:pPr lvl="1"/>
            <a:r>
              <a:rPr lang="en-GB" dirty="0"/>
              <a:t>JOB TITLE</a:t>
            </a:r>
          </a:p>
          <a:p>
            <a:pPr lvl="2"/>
            <a:r>
              <a:rPr lang="en-GB" dirty="0"/>
              <a:t>Copy here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E2C627EA-F57F-1449-B3B5-86A74B50284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731954" y="3937123"/>
            <a:ext cx="1336500" cy="1530000"/>
          </a:xfrm>
        </p:spPr>
        <p:txBody>
          <a:bodyPr/>
          <a:lstStyle>
            <a:lvl1pPr>
              <a:defRPr sz="825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4611951-2C77-8BD5-39CF-FD09414B5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09995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92B5E-A7E1-614E-BBF8-D39702AA0A13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1894306-D23C-4122-56FF-6475F3E41A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3" y="1521918"/>
            <a:ext cx="4158000" cy="612000"/>
          </a:xfrm>
        </p:spPr>
        <p:txBody>
          <a:bodyPr tIns="72000"/>
          <a:lstStyle>
            <a:lvl1pPr>
              <a:spcBef>
                <a:spcPts val="0"/>
              </a:spcBef>
              <a:defRPr sz="1485" b="0"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15920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DF21C4-E74F-40D4-875F-9354A953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6B0F-C715-704A-B26D-FC372AA89445}" type="datetime4">
              <a:rPr lang="en-GB" smtClean="0"/>
              <a:t>22 May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4EC68-7C81-465A-8E6E-293884C6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10210842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2364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30F6-1957-407E-84C8-E1AFF693C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4629E-73B0-407B-BF7E-8D92CEFB3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A3280-4509-8D48-9FB0-8B74561FAC14}" type="datetime4">
              <a:rPr lang="en-GB" smtClean="0"/>
              <a:t>22 May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EA618-8F8A-4B7D-8BA0-10D06F161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B65B588-62F2-7D4F-9B86-7961E55DD0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6344" y="2254356"/>
            <a:ext cx="9504000" cy="4896000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907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826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ign-off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32C035-FE69-6045-83E8-A6C9123F4B10}"/>
              </a:ext>
            </a:extLst>
          </p:cNvPr>
          <p:cNvSpPr/>
          <p:nvPr userDrawn="1"/>
        </p:nvSpPr>
        <p:spPr>
          <a:xfrm>
            <a:off x="0" y="1305599"/>
            <a:ext cx="10058400" cy="646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B8400-1162-49DA-9404-1F7970D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2147485"/>
            <a:ext cx="6269474" cy="183600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76E0-6B5B-4401-98FD-9F07AFD9E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44" y="4004945"/>
            <a:ext cx="5940000" cy="1020000"/>
          </a:xfrm>
        </p:spPr>
        <p:txBody>
          <a:bodyPr tIns="72000"/>
          <a:lstStyle>
            <a:lvl1pPr marL="0" indent="0">
              <a:spcBef>
                <a:spcPts val="0"/>
              </a:spcBef>
              <a:buNone/>
              <a:defRPr sz="165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68602-7874-AA47-B06B-FBD37531AA30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344" y="440805"/>
            <a:ext cx="2970372" cy="204000"/>
          </a:xfrm>
        </p:spPr>
        <p:txBody>
          <a:bodyPr/>
          <a:lstStyle/>
          <a:p>
            <a:r>
              <a:rPr lang="en-GB"/>
              <a:t>Presentation info in Footer</a:t>
            </a:r>
          </a:p>
        </p:txBody>
      </p:sp>
    </p:spTree>
    <p:extLst>
      <p:ext uri="{BB962C8B-B14F-4D97-AF65-F5344CB8AC3E}">
        <p14:creationId xmlns:p14="http://schemas.microsoft.com/office/powerpoint/2010/main" val="8085728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ign-off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8400-1162-49DA-9404-1F7970D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535" y="2143167"/>
            <a:ext cx="4702427" cy="1836000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76E0-6B5B-4401-98FD-9F07AFD9E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6535" y="4000626"/>
            <a:ext cx="4702427" cy="1020000"/>
          </a:xfrm>
        </p:spPr>
        <p:txBody>
          <a:bodyPr tIns="72000"/>
          <a:lstStyle>
            <a:lvl1pPr marL="0" indent="0">
              <a:spcBef>
                <a:spcPts val="0"/>
              </a:spcBef>
              <a:buNone/>
              <a:defRPr sz="165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2DCBE-AC59-4CB0-846B-E3B97835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1D4B-E441-3F49-9717-15AAECFBBCCE}" type="datetime4">
              <a:rPr lang="en-GB" smtClean="0"/>
              <a:t>22 May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A7023-1A5F-441D-A935-EEF237D0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info in Footer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7F4BAA7-8025-594D-A64D-2C99185FD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892" y="3213364"/>
            <a:ext cx="3342249" cy="80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169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37.xml"/><Relationship Id="rId33" Type="http://schemas.openxmlformats.org/officeDocument/2006/relationships/theme" Target="../theme/theme2.xml"/><Relationship Id="rId34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7743" y="1927860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7743" y="6268211"/>
            <a:ext cx="9584690" cy="0"/>
          </a:xfrm>
          <a:custGeom>
            <a:avLst/>
            <a:gdLst/>
            <a:ahLst/>
            <a:cxnLst/>
            <a:rect l="l" t="t" r="r" b="b"/>
            <a:pathLst>
              <a:path w="9584690">
                <a:moveTo>
                  <a:pt x="0" y="0"/>
                </a:moveTo>
                <a:lnTo>
                  <a:pt x="9584435" y="0"/>
                </a:lnTo>
              </a:path>
            </a:pathLst>
          </a:custGeom>
          <a:ln w="10668">
            <a:solidFill>
              <a:srgbClr val="00A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91600" y="6353555"/>
            <a:ext cx="829900" cy="1493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5007" y="1161566"/>
            <a:ext cx="4890770" cy="64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36562" y="2081247"/>
            <a:ext cx="6508750" cy="406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61276" y="6343476"/>
            <a:ext cx="208914" cy="213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76200">
              <a:lnSpc>
                <a:spcPts val="104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1AE4B5-65C1-477B-AA46-F7EFAB5AD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44" y="622511"/>
            <a:ext cx="8317826" cy="89940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E563B-3820-4AE6-95BD-46631499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6344" y="2254357"/>
            <a:ext cx="9504000" cy="4895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4D25F-1AD8-4206-B17B-E315C25DC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6344" y="7391424"/>
            <a:ext cx="1188000" cy="2467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66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fld id="{5EB40020-22CE-754F-94A7-1C5BD0032A06}" type="datetime4">
              <a:rPr lang="en-GB" smtClean="0"/>
              <a:pPr/>
              <a:t>22 May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5AE1-6E78-4CE0-8864-C6312C119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344" y="440805"/>
            <a:ext cx="2970372" cy="20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66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GB" dirty="0"/>
              <a:t>Presentation info in Footer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237BC07-9B3E-35D7-D51A-FF4E8835A5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9040041" y="467300"/>
            <a:ext cx="739391" cy="177506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3E55190-F549-1F73-B614-CECDAC8D6682}"/>
              </a:ext>
            </a:extLst>
          </p:cNvPr>
          <p:cNvSpPr txBox="1">
            <a:spLocks/>
          </p:cNvSpPr>
          <p:nvPr userDrawn="1"/>
        </p:nvSpPr>
        <p:spPr>
          <a:xfrm>
            <a:off x="9185431" y="7391423"/>
            <a:ext cx="594000" cy="20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64AA07-A4EE-48A0-8A75-86CF7FF48851}" type="slidenum">
              <a:rPr lang="en-GB" sz="660" b="1" smtClean="0">
                <a:latin typeface="Aptos" panose="020B0004020202020204" pitchFamily="34" charset="0"/>
              </a:rPr>
              <a:pPr/>
              <a:t>‹#›</a:t>
            </a:fld>
            <a:endParaRPr lang="en-GB" sz="66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378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</p:sldLayoutIdLst>
  <p:hf hdr="0"/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2640" b="1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754380" rtl="0" eaLnBrk="1" latinLnBrk="0" hangingPunct="1">
        <a:lnSpc>
          <a:spcPct val="100000"/>
        </a:lnSpc>
        <a:spcBef>
          <a:spcPts val="825"/>
        </a:spcBef>
        <a:buFont typeface="Arial" panose="020B0604020202020204" pitchFamily="34" charset="0"/>
        <a:buNone/>
        <a:defRPr sz="132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147995" indent="-145376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132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293370" indent="-145376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1155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403384" indent="-110014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99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513398" indent="-110014" algn="l" defTabSz="754380" rtl="0" eaLnBrk="1" latinLnBrk="0" hangingPunct="1">
        <a:lnSpc>
          <a:spcPct val="100000"/>
        </a:lnSpc>
        <a:spcBef>
          <a:spcPts val="413"/>
        </a:spcBef>
        <a:buFont typeface="Arial" panose="020B0604020202020204" pitchFamily="34" charset="0"/>
        <a:buChar char="•"/>
        <a:tabLst/>
        <a:defRPr sz="99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5201">
          <p15:clr>
            <a:srgbClr val="F26B43"/>
          </p15:clr>
        </p15:guide>
        <p15:guide id="3" pos="4747">
          <p15:clr>
            <a:srgbClr val="F26B43"/>
          </p15:clr>
        </p15:guide>
        <p15:guide id="4" pos="4294">
          <p15:clr>
            <a:srgbClr val="F26B43"/>
          </p15:clr>
        </p15:guide>
        <p15:guide id="6" pos="5654">
          <p15:clr>
            <a:srgbClr val="F26B43"/>
          </p15:clr>
        </p15:guide>
        <p15:guide id="8" pos="6108">
          <p15:clr>
            <a:srgbClr val="F26B43"/>
          </p15:clr>
        </p15:guide>
        <p15:guide id="9" pos="6562">
          <p15:clr>
            <a:srgbClr val="F26B43"/>
          </p15:clr>
        </p15:guide>
        <p15:guide id="12" pos="7015">
          <p15:clr>
            <a:srgbClr val="F26B43"/>
          </p15:clr>
        </p15:guide>
        <p15:guide id="13" pos="7469">
          <p15:clr>
            <a:srgbClr val="F26B43"/>
          </p15:clr>
        </p15:guide>
        <p15:guide id="14" pos="2479">
          <p15:clr>
            <a:srgbClr val="F26B43"/>
          </p15:clr>
        </p15:guide>
        <p15:guide id="16" pos="1572">
          <p15:clr>
            <a:srgbClr val="F26B43"/>
          </p15:clr>
        </p15:guide>
        <p15:guide id="17" pos="2933">
          <p15:clr>
            <a:srgbClr val="F26B43"/>
          </p15:clr>
        </p15:guide>
        <p15:guide id="18" pos="3386">
          <p15:clr>
            <a:srgbClr val="F26B43"/>
          </p15:clr>
        </p15:guide>
        <p15:guide id="19" pos="2026">
          <p15:clr>
            <a:srgbClr val="F26B43"/>
          </p15:clr>
        </p15:guide>
        <p15:guide id="21" pos="1118">
          <p15:clr>
            <a:srgbClr val="F26B43"/>
          </p15:clr>
        </p15:guide>
        <p15:guide id="23" pos="211">
          <p15:clr>
            <a:srgbClr val="F26B43"/>
          </p15:clr>
        </p15:guide>
        <p15:guide id="24" orient="horz" pos="1253">
          <p15:clr>
            <a:srgbClr val="F26B43"/>
          </p15:clr>
        </p15:guide>
        <p15:guide id="26" pos="665">
          <p15:clr>
            <a:srgbClr val="F26B43"/>
          </p15:clr>
        </p15:guide>
        <p15:guide id="27" orient="horz" pos="2160">
          <p15:clr>
            <a:srgbClr val="F26B43"/>
          </p15:clr>
        </p15:guide>
        <p15:guide id="29" orient="horz" pos="1706">
          <p15:clr>
            <a:srgbClr val="F26B43"/>
          </p15:clr>
        </p15:guide>
        <p15:guide id="31" orient="horz" pos="799">
          <p15:clr>
            <a:srgbClr val="F26B43"/>
          </p15:clr>
        </p15:guide>
        <p15:guide id="32" orient="horz" pos="2614">
          <p15:clr>
            <a:srgbClr val="F26B43"/>
          </p15:clr>
        </p15:guide>
        <p15:guide id="33" orient="horz" pos="3521">
          <p15:clr>
            <a:srgbClr val="F26B43"/>
          </p15:clr>
        </p15:guide>
        <p15:guide id="34" orient="horz" pos="3067">
          <p15:clr>
            <a:srgbClr val="F26B43"/>
          </p15:clr>
        </p15:guide>
        <p15:guide id="35" orient="horz" pos="3974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pos="438">
          <p15:clr>
            <a:srgbClr val="F26B43"/>
          </p15:clr>
        </p15:guide>
        <p15:guide id="40" pos="325">
          <p15:clr>
            <a:srgbClr val="F26B43"/>
          </p15:clr>
        </p15:guide>
        <p15:guide id="41" orient="horz" pos="572">
          <p15:clr>
            <a:srgbClr val="F26B43"/>
          </p15:clr>
        </p15:guide>
        <p15:guide id="43" pos="7242">
          <p15:clr>
            <a:srgbClr val="F26B43"/>
          </p15:clr>
        </p15:guide>
        <p15:guide id="44" pos="7355">
          <p15:clr>
            <a:srgbClr val="F26B43"/>
          </p15:clr>
        </p15:guide>
        <p15:guide id="45" orient="horz" pos="3748">
          <p15:clr>
            <a:srgbClr val="F26B43"/>
          </p15:clr>
        </p15:guide>
        <p15:guide id="46" orient="horz" pos="3861">
          <p15:clr>
            <a:srgbClr val="F26B43"/>
          </p15:clr>
        </p15:guide>
        <p15:guide id="47" orient="horz" pos="45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Impact of Change Review</a:t>
            </a:r>
          </a:p>
          <a:p>
            <a:r>
              <a:t>MoOC - Pay Equity Assessment</a:t>
            </a:r>
          </a:p>
          <a:p>
            <a:r>
              <a:t>&amp; Risk Mitigation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t>ALE HR 2026 | Management of Operational 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Change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Sponsor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e.g., CEO / CFO]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Review Team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e.g., Larissa Silva, Taiane, CFO, Legal Counsel]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Type of Change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Compensation Policy Change - Pay Equity Governance and Corrective Actions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Date Initiated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Target Implementation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phased by department/terminal]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Change Description: What Will Change?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ALE will implement pay equity governance and execute corrective actions: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Establish consistent pay equity analysis methodology across all BUs/terminals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Identify and quantify gender and role-based pay gaps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Design and execute phased corrective compensation adjustments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Align with Glencore global standards and Brazilian labor regulations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Strengthen transparency and internal fairness in pay decisions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</a:rPr>
              <a:t>Key Milestones: [For Larissa to Complete]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1. Obtain external legal advice on pay equity exposure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2. Complete pay equity analysis (linked to Salary Benchmarking)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3. Create corrective action plan with costing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4. Secure RemCo approval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5. Execute Phase 1 corrections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>
                <a:solidFill>
                  <a:srgbClr val="002D62"/>
                </a:solidFill>
              </a:rPr>
              <a:t>TSA Authority Requirements (Section 13.3)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Compensation Policy changes (salary structures, allowances):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GM HR Recommends &gt; CFO &amp; GM Strategy Agree &gt; CEO Agree &gt; BoD Decide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Salary adjustments - Annual evaluation: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CEO Recommends &gt; BoD Decides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58595B"/>
                </a:solidFill>
              </a:rPr>
              <a:t>Exceptional salary adjustments (excl. EXCO/GM-1):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GM HR Recommends &gt; Relevant GM Decides &gt; CEO Decides (if &gt;5%)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8595B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C00000"/>
                </a:solidFill>
              </a:rPr>
              <a:t>Legal Risk:</a:t>
            </a:r>
          </a:p>
          <a:p>
            <a:pPr lvl="1">
              <a:spcAft>
                <a:spcPts val="300"/>
              </a:spcAft>
            </a:pPr>
            <a:r>
              <a:rPr sz="1000" b="0">
                <a:solidFill>
                  <a:srgbClr val="58595B"/>
                </a:solidFill>
              </a:rPr>
              <a:t>Brazilian Lei 14.611/2023 (equal pay law) carries fines up to 3% of payroll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Impact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64008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Lines of Enquiry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Resourcing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HR capacity? External consultant needed?]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Objectives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Core 2026 objective (20%). Dependent on Salary Benchmarking completion.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Risk mgmt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Is pay equity on ALE risk register?]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Workday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Adjustments via Workday payroll. [For Larissa to Complete - cutoff dates]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1.9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Budget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Total correction cost; breakdown by phase]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Internal comms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Finance (budgeting), Legal (compliance), all BU GMs (governance)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3.1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Job descriptions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 - Confirm JD currency for all roles in scope]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Policy docs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New Pay Equity Policy and Governance Standard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4.1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Training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HR team + line managers need pay equity and governance training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7.1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Effectiveness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Pay gap metrics, legal audit, perception surveys, grievance rates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Risk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32004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Risk Question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Hazard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Additional Controls Required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HR team capability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Lack expertise in pay equity methodology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Engage external pay equity specialist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Legal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Lei 14.611/2023: fines up to 3% payroll + reputational damage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Complete legal risk assessment; implement per legal advice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Employee relations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Unfairness perception; union involvement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Communication plan on equity principles; proactive union engagement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Budget overrun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Correction costs exceed allocation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Phase corrections to budget cycles; multi-year CFO/CEO commitment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Data quality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Inaccurate JDs/grading = flawed analysis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Validate all JDs and gradings before analysis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Management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New governance adds reporting burden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Integrate into existing management review calendar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600">
                <a:solidFill>
                  <a:srgbClr val="002D62"/>
                </a:solidFill>
              </a:rPr>
              <a:t>Approval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286000"/>
                <a:gridCol w="1371600"/>
              </a:tblGrid>
              <a:tr h="27432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Signature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anchor="ctr">
                    <a:solidFill>
                      <a:srgbClr val="002D6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MoOC Sponsor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GM HR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Legal Counsel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CFO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CEO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>RemCo / BoD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C00000"/>
                          </a:solidFill>
                        </a:rPr>
                        <a:t>[For Larissa to Complete]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58595B"/>
                          </a:solidFill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lencore">
  <a:themeElements>
    <a:clrScheme name="Glencore MID">
      <a:dk1>
        <a:srgbClr val="000000"/>
      </a:dk1>
      <a:lt1>
        <a:srgbClr val="FFFFFF"/>
      </a:lt1>
      <a:dk2>
        <a:srgbClr val="BEA791"/>
      </a:dk2>
      <a:lt2>
        <a:srgbClr val="EDEDED"/>
      </a:lt2>
      <a:accent1>
        <a:srgbClr val="00AFAA"/>
      </a:accent1>
      <a:accent2>
        <a:srgbClr val="00649E"/>
      </a:accent2>
      <a:accent3>
        <a:srgbClr val="763F83"/>
      </a:accent3>
      <a:accent4>
        <a:srgbClr val="DD0068"/>
      </a:accent4>
      <a:accent5>
        <a:srgbClr val="BC3C17"/>
      </a:accent5>
      <a:accent6>
        <a:srgbClr val="30903A"/>
      </a:accent6>
      <a:hlink>
        <a:srgbClr val="0563C1"/>
      </a:hlink>
      <a:folHlink>
        <a:srgbClr val="954F72"/>
      </a:folHlink>
    </a:clrScheme>
    <a:fontScheme name="Montserrat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lencore PPT template Aptos.pptx" id="{9CF9E942-F999-4D4D-980C-55248133160E}" vid="{BB126458-607E-426B-9CF5-13E14F0E07C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350</Words>
  <Application>Microsoft Office PowerPoint</Application>
  <PresentationFormat>Custom</PresentationFormat>
  <Paragraphs>38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Glencore</vt:lpstr>
      <vt:lpstr>Title  March 19th , 2026</vt:lpstr>
      <vt:lpstr>PowerPoint Presentation</vt:lpstr>
      <vt:lpstr>PowerPoint Presentation</vt:lpstr>
      <vt:lpstr>Title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ARCC_19march2026</dc:title>
  <dc:creator>Baptista, Fernanda (Sao Paulo - BR)</dc:creator>
  <cp:lastModifiedBy>Elghrouri, Enas (London - GB)</cp:lastModifiedBy>
  <cp:revision>1</cp:revision>
  <dcterms:created xsi:type="dcterms:W3CDTF">2026-03-19T17:19:01Z</dcterms:created>
  <dcterms:modified xsi:type="dcterms:W3CDTF">2026-05-22T11:08:51Z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2026-03-12T00:00:00Z</vt:filetime>
  </property>
  <property fmtid="{D5CDD505-2E9C-101B-9397-08002B2CF9AE}" pid="3" name="LastSaved">
    <vt:filetime>2026-03-19T00:00:00Z</vt:filetime>
  </property>
  <property fmtid="{D5CDD505-2E9C-101B-9397-08002B2CF9AE}" pid="4" name="Producer">
    <vt:lpwstr>Microsoft: Print To PDF</vt:lpwstr>
  </property>
</Properties>
</file>